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25199975" cy="359997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333F"/>
    <a:srgbClr val="F0F2F6"/>
    <a:srgbClr val="0068C9"/>
    <a:srgbClr val="00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6" d="100"/>
          <a:sy n="16" d="100"/>
        </p:scale>
        <p:origin x="1912" y="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89998" y="5891626"/>
            <a:ext cx="21419979" cy="12533242"/>
          </a:xfrm>
        </p:spPr>
        <p:txBody>
          <a:bodyPr anchor="b"/>
          <a:lstStyle>
            <a:lvl1pPr algn="ctr">
              <a:defRPr sz="16535"/>
            </a:lvl1pPr>
          </a:lstStyle>
          <a:p>
            <a:r>
              <a:rPr lang="en-US"/>
              <a:t>Click to edit Master title style</a:t>
            </a:r>
            <a:endParaRPr lang="en-US" dirty="0"/>
          </a:p>
        </p:txBody>
      </p:sp>
      <p:sp>
        <p:nvSpPr>
          <p:cNvPr id="3" name="Subtitle 2"/>
          <p:cNvSpPr>
            <a:spLocks noGrp="1"/>
          </p:cNvSpPr>
          <p:nvPr>
            <p:ph type="subTitle" idx="1"/>
          </p:nvPr>
        </p:nvSpPr>
        <p:spPr>
          <a:xfrm>
            <a:off x="3149997" y="18908198"/>
            <a:ext cx="18899981" cy="8691601"/>
          </a:xfrm>
        </p:spPr>
        <p:txBody>
          <a:bodyPr/>
          <a:lstStyle>
            <a:lvl1pPr marL="0" indent="0" algn="ctr">
              <a:buNone/>
              <a:defRPr sz="6614"/>
            </a:lvl1pPr>
            <a:lvl2pPr marL="1259997" indent="0" algn="ctr">
              <a:buNone/>
              <a:defRPr sz="5512"/>
            </a:lvl2pPr>
            <a:lvl3pPr marL="2519995" indent="0" algn="ctr">
              <a:buNone/>
              <a:defRPr sz="4961"/>
            </a:lvl3pPr>
            <a:lvl4pPr marL="3779992" indent="0" algn="ctr">
              <a:buNone/>
              <a:defRPr sz="4409"/>
            </a:lvl4pPr>
            <a:lvl5pPr marL="5039990" indent="0" algn="ctr">
              <a:buNone/>
              <a:defRPr sz="4409"/>
            </a:lvl5pPr>
            <a:lvl6pPr marL="6299987" indent="0" algn="ctr">
              <a:buNone/>
              <a:defRPr sz="4409"/>
            </a:lvl6pPr>
            <a:lvl7pPr marL="7559985" indent="0" algn="ctr">
              <a:buNone/>
              <a:defRPr sz="4409"/>
            </a:lvl7pPr>
            <a:lvl8pPr marL="8819982" indent="0" algn="ctr">
              <a:buNone/>
              <a:defRPr sz="4409"/>
            </a:lvl8pPr>
            <a:lvl9pPr marL="10079980" indent="0" algn="ctr">
              <a:buNone/>
              <a:defRPr sz="440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F86DA2-6F35-4111-ACB3-E2300C0C7C15}" type="datetimeFigureOut">
              <a:rPr lang="en-GB" smtClean="0"/>
              <a:t>13/09/2026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407080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F86DA2-6F35-4111-ACB3-E2300C0C7C15}" type="datetimeFigureOut">
              <a:rPr lang="en-GB" smtClean="0"/>
              <a:t>13/09/2026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3712672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19375" y="8974945"/>
            <a:ext cx="21734978" cy="14974888"/>
          </a:xfrm>
        </p:spPr>
        <p:txBody>
          <a:bodyPr anchor="b"/>
          <a:lstStyle>
            <a:lvl1pPr>
              <a:defRPr sz="16535"/>
            </a:lvl1pPr>
          </a:lstStyle>
          <a:p>
            <a:r>
              <a:rPr lang="en-US"/>
              <a:t>Click to edit Master title style</a:t>
            </a:r>
            <a:endParaRPr lang="en-US" dirty="0"/>
          </a:p>
        </p:txBody>
      </p:sp>
      <p:sp>
        <p:nvSpPr>
          <p:cNvPr id="3" name="Text Placeholder 2"/>
          <p:cNvSpPr>
            <a:spLocks noGrp="1"/>
          </p:cNvSpPr>
          <p:nvPr>
            <p:ph type="body" idx="1"/>
          </p:nvPr>
        </p:nvSpPr>
        <p:spPr>
          <a:xfrm>
            <a:off x="1719375" y="24091502"/>
            <a:ext cx="21734978" cy="7874940"/>
          </a:xfrm>
        </p:spPr>
        <p:txBody>
          <a:bodyPr/>
          <a:lstStyle>
            <a:lvl1pPr marL="0" indent="0">
              <a:buNone/>
              <a:defRPr sz="6614">
                <a:solidFill>
                  <a:schemeClr val="tx1"/>
                </a:solidFill>
              </a:defRPr>
            </a:lvl1pPr>
            <a:lvl2pPr marL="1259997" indent="0">
              <a:buNone/>
              <a:defRPr sz="5512">
                <a:solidFill>
                  <a:schemeClr val="tx1">
                    <a:tint val="75000"/>
                  </a:schemeClr>
                </a:solidFill>
              </a:defRPr>
            </a:lvl2pPr>
            <a:lvl3pPr marL="2519995" indent="0">
              <a:buNone/>
              <a:defRPr sz="4961">
                <a:solidFill>
                  <a:schemeClr val="tx1">
                    <a:tint val="75000"/>
                  </a:schemeClr>
                </a:solidFill>
              </a:defRPr>
            </a:lvl3pPr>
            <a:lvl4pPr marL="3779992" indent="0">
              <a:buNone/>
              <a:defRPr sz="4409">
                <a:solidFill>
                  <a:schemeClr val="tx1">
                    <a:tint val="75000"/>
                  </a:schemeClr>
                </a:solidFill>
              </a:defRPr>
            </a:lvl4pPr>
            <a:lvl5pPr marL="5039990" indent="0">
              <a:buNone/>
              <a:defRPr sz="4409">
                <a:solidFill>
                  <a:schemeClr val="tx1">
                    <a:tint val="75000"/>
                  </a:schemeClr>
                </a:solidFill>
              </a:defRPr>
            </a:lvl5pPr>
            <a:lvl6pPr marL="6299987" indent="0">
              <a:buNone/>
              <a:defRPr sz="4409">
                <a:solidFill>
                  <a:schemeClr val="tx1">
                    <a:tint val="75000"/>
                  </a:schemeClr>
                </a:solidFill>
              </a:defRPr>
            </a:lvl6pPr>
            <a:lvl7pPr marL="7559985" indent="0">
              <a:buNone/>
              <a:defRPr sz="4409">
                <a:solidFill>
                  <a:schemeClr val="tx1">
                    <a:tint val="75000"/>
                  </a:schemeClr>
                </a:solidFill>
              </a:defRPr>
            </a:lvl7pPr>
            <a:lvl8pPr marL="8819982" indent="0">
              <a:buNone/>
              <a:defRPr sz="4409">
                <a:solidFill>
                  <a:schemeClr val="tx1">
                    <a:tint val="75000"/>
                  </a:schemeClr>
                </a:solidFill>
              </a:defRPr>
            </a:lvl8pPr>
            <a:lvl9pPr marL="10079980" indent="0">
              <a:buNone/>
              <a:defRPr sz="440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F86DA2-6F35-4111-ACB3-E2300C0C7C15}" type="datetimeFigureOut">
              <a:rPr lang="en-GB" smtClean="0"/>
              <a:t>13/09/2026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286409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732498" y="9583264"/>
            <a:ext cx="10709989" cy="2284150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757488" y="9583264"/>
            <a:ext cx="10709989" cy="2284150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F86DA2-6F35-4111-ACB3-E2300C0C7C15}" type="datetimeFigureOut">
              <a:rPr lang="en-GB" smtClean="0"/>
              <a:t>13/09/2026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1963884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35781" y="1916661"/>
            <a:ext cx="21734978" cy="6958285"/>
          </a:xfrm>
        </p:spPr>
        <p:txBody>
          <a:bodyPr/>
          <a:lstStyle/>
          <a:p>
            <a:r>
              <a:rPr lang="en-US"/>
              <a:t>Click to edit Master title style</a:t>
            </a:r>
            <a:endParaRPr lang="en-US" dirty="0"/>
          </a:p>
        </p:txBody>
      </p:sp>
      <p:sp>
        <p:nvSpPr>
          <p:cNvPr id="3" name="Text Placeholder 2"/>
          <p:cNvSpPr>
            <a:spLocks noGrp="1"/>
          </p:cNvSpPr>
          <p:nvPr>
            <p:ph type="body" idx="1"/>
          </p:nvPr>
        </p:nvSpPr>
        <p:spPr>
          <a:xfrm>
            <a:off x="1735783" y="8824938"/>
            <a:ext cx="10660769" cy="4324966"/>
          </a:xfrm>
        </p:spPr>
        <p:txBody>
          <a:bodyPr anchor="b"/>
          <a:lstStyle>
            <a:lvl1pPr marL="0" indent="0">
              <a:buNone/>
              <a:defRPr sz="6614" b="1"/>
            </a:lvl1pPr>
            <a:lvl2pPr marL="1259997" indent="0">
              <a:buNone/>
              <a:defRPr sz="5512" b="1"/>
            </a:lvl2pPr>
            <a:lvl3pPr marL="2519995" indent="0">
              <a:buNone/>
              <a:defRPr sz="4961" b="1"/>
            </a:lvl3pPr>
            <a:lvl4pPr marL="3779992" indent="0">
              <a:buNone/>
              <a:defRPr sz="4409" b="1"/>
            </a:lvl4pPr>
            <a:lvl5pPr marL="5039990" indent="0">
              <a:buNone/>
              <a:defRPr sz="4409" b="1"/>
            </a:lvl5pPr>
            <a:lvl6pPr marL="6299987" indent="0">
              <a:buNone/>
              <a:defRPr sz="4409" b="1"/>
            </a:lvl6pPr>
            <a:lvl7pPr marL="7559985" indent="0">
              <a:buNone/>
              <a:defRPr sz="4409" b="1"/>
            </a:lvl7pPr>
            <a:lvl8pPr marL="8819982" indent="0">
              <a:buNone/>
              <a:defRPr sz="4409" b="1"/>
            </a:lvl8pPr>
            <a:lvl9pPr marL="10079980" indent="0">
              <a:buNone/>
              <a:defRPr sz="4409" b="1"/>
            </a:lvl9pPr>
          </a:lstStyle>
          <a:p>
            <a:pPr lvl="0"/>
            <a:r>
              <a:rPr lang="en-US"/>
              <a:t>Edit Master text styles</a:t>
            </a:r>
          </a:p>
        </p:txBody>
      </p:sp>
      <p:sp>
        <p:nvSpPr>
          <p:cNvPr id="4" name="Content Placeholder 3"/>
          <p:cNvSpPr>
            <a:spLocks noGrp="1"/>
          </p:cNvSpPr>
          <p:nvPr>
            <p:ph sz="half" idx="2"/>
          </p:nvPr>
        </p:nvSpPr>
        <p:spPr>
          <a:xfrm>
            <a:off x="1735783" y="13149904"/>
            <a:ext cx="10660769" cy="1934152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2757489" y="8824938"/>
            <a:ext cx="10713272" cy="4324966"/>
          </a:xfrm>
        </p:spPr>
        <p:txBody>
          <a:bodyPr anchor="b"/>
          <a:lstStyle>
            <a:lvl1pPr marL="0" indent="0">
              <a:buNone/>
              <a:defRPr sz="6614" b="1"/>
            </a:lvl1pPr>
            <a:lvl2pPr marL="1259997" indent="0">
              <a:buNone/>
              <a:defRPr sz="5512" b="1"/>
            </a:lvl2pPr>
            <a:lvl3pPr marL="2519995" indent="0">
              <a:buNone/>
              <a:defRPr sz="4961" b="1"/>
            </a:lvl3pPr>
            <a:lvl4pPr marL="3779992" indent="0">
              <a:buNone/>
              <a:defRPr sz="4409" b="1"/>
            </a:lvl4pPr>
            <a:lvl5pPr marL="5039990" indent="0">
              <a:buNone/>
              <a:defRPr sz="4409" b="1"/>
            </a:lvl5pPr>
            <a:lvl6pPr marL="6299987" indent="0">
              <a:buNone/>
              <a:defRPr sz="4409" b="1"/>
            </a:lvl6pPr>
            <a:lvl7pPr marL="7559985" indent="0">
              <a:buNone/>
              <a:defRPr sz="4409" b="1"/>
            </a:lvl7pPr>
            <a:lvl8pPr marL="8819982" indent="0">
              <a:buNone/>
              <a:defRPr sz="4409" b="1"/>
            </a:lvl8pPr>
            <a:lvl9pPr marL="10079980" indent="0">
              <a:buNone/>
              <a:defRPr sz="4409" b="1"/>
            </a:lvl9pPr>
          </a:lstStyle>
          <a:p>
            <a:pPr lvl="0"/>
            <a:r>
              <a:rPr lang="en-US"/>
              <a:t>Edit Master text styles</a:t>
            </a:r>
          </a:p>
        </p:txBody>
      </p:sp>
      <p:sp>
        <p:nvSpPr>
          <p:cNvPr id="6" name="Content Placeholder 5"/>
          <p:cNvSpPr>
            <a:spLocks noGrp="1"/>
          </p:cNvSpPr>
          <p:nvPr>
            <p:ph sz="quarter" idx="4"/>
          </p:nvPr>
        </p:nvSpPr>
        <p:spPr>
          <a:xfrm>
            <a:off x="12757489" y="13149904"/>
            <a:ext cx="10713272" cy="1934152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F86DA2-6F35-4111-ACB3-E2300C0C7C15}" type="datetimeFigureOut">
              <a:rPr lang="en-GB" smtClean="0"/>
              <a:t>13/09/2026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3559586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F86DA2-6F35-4111-ACB3-E2300C0C7C15}" type="datetimeFigureOut">
              <a:rPr lang="en-GB" smtClean="0"/>
              <a:t>13/09/2026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1572518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F86DA2-6F35-4111-ACB3-E2300C0C7C15}" type="datetimeFigureOut">
              <a:rPr lang="en-GB" smtClean="0"/>
              <a:t>13/09/2026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2340265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5780" y="2399982"/>
            <a:ext cx="8127648" cy="8399939"/>
          </a:xfrm>
        </p:spPr>
        <p:txBody>
          <a:bodyPr anchor="b"/>
          <a:lstStyle>
            <a:lvl1pPr>
              <a:defRPr sz="8819"/>
            </a:lvl1pPr>
          </a:lstStyle>
          <a:p>
            <a:r>
              <a:rPr lang="en-US"/>
              <a:t>Click to edit Master title style</a:t>
            </a:r>
            <a:endParaRPr lang="en-US" dirty="0"/>
          </a:p>
        </p:txBody>
      </p:sp>
      <p:sp>
        <p:nvSpPr>
          <p:cNvPr id="3" name="Content Placeholder 2"/>
          <p:cNvSpPr>
            <a:spLocks noGrp="1"/>
          </p:cNvSpPr>
          <p:nvPr>
            <p:ph idx="1"/>
          </p:nvPr>
        </p:nvSpPr>
        <p:spPr>
          <a:xfrm>
            <a:off x="10713272" y="5183304"/>
            <a:ext cx="12757487" cy="25583147"/>
          </a:xfrm>
        </p:spPr>
        <p:txBody>
          <a:bodyPr/>
          <a:lstStyle>
            <a:lvl1pPr>
              <a:defRPr sz="8819"/>
            </a:lvl1pPr>
            <a:lvl2pPr>
              <a:defRPr sz="7717"/>
            </a:lvl2pPr>
            <a:lvl3pPr>
              <a:defRPr sz="6614"/>
            </a:lvl3pPr>
            <a:lvl4pPr>
              <a:defRPr sz="5512"/>
            </a:lvl4pPr>
            <a:lvl5pPr>
              <a:defRPr sz="5512"/>
            </a:lvl5pPr>
            <a:lvl6pPr>
              <a:defRPr sz="5512"/>
            </a:lvl6pPr>
            <a:lvl7pPr>
              <a:defRPr sz="5512"/>
            </a:lvl7pPr>
            <a:lvl8pPr>
              <a:defRPr sz="5512"/>
            </a:lvl8pPr>
            <a:lvl9pPr>
              <a:defRPr sz="5512"/>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735780" y="10799922"/>
            <a:ext cx="8127648" cy="20008190"/>
          </a:xfrm>
        </p:spPr>
        <p:txBody>
          <a:bodyPr/>
          <a:lstStyle>
            <a:lvl1pPr marL="0" indent="0">
              <a:buNone/>
              <a:defRPr sz="4409"/>
            </a:lvl1pPr>
            <a:lvl2pPr marL="1259997" indent="0">
              <a:buNone/>
              <a:defRPr sz="3858"/>
            </a:lvl2pPr>
            <a:lvl3pPr marL="2519995" indent="0">
              <a:buNone/>
              <a:defRPr sz="3307"/>
            </a:lvl3pPr>
            <a:lvl4pPr marL="3779992" indent="0">
              <a:buNone/>
              <a:defRPr sz="2756"/>
            </a:lvl4pPr>
            <a:lvl5pPr marL="5039990" indent="0">
              <a:buNone/>
              <a:defRPr sz="2756"/>
            </a:lvl5pPr>
            <a:lvl6pPr marL="6299987" indent="0">
              <a:buNone/>
              <a:defRPr sz="2756"/>
            </a:lvl6pPr>
            <a:lvl7pPr marL="7559985" indent="0">
              <a:buNone/>
              <a:defRPr sz="2756"/>
            </a:lvl7pPr>
            <a:lvl8pPr marL="8819982" indent="0">
              <a:buNone/>
              <a:defRPr sz="2756"/>
            </a:lvl8pPr>
            <a:lvl9pPr marL="10079980" indent="0">
              <a:buNone/>
              <a:defRPr sz="2756"/>
            </a:lvl9pPr>
          </a:lstStyle>
          <a:p>
            <a:pPr lvl="0"/>
            <a:r>
              <a:rPr lang="en-US"/>
              <a:t>Edit Master text styles</a:t>
            </a:r>
          </a:p>
        </p:txBody>
      </p:sp>
      <p:sp>
        <p:nvSpPr>
          <p:cNvPr id="5" name="Date Placeholder 4"/>
          <p:cNvSpPr>
            <a:spLocks noGrp="1"/>
          </p:cNvSpPr>
          <p:nvPr>
            <p:ph type="dt" sz="half" idx="10"/>
          </p:nvPr>
        </p:nvSpPr>
        <p:spPr/>
        <p:txBody>
          <a:bodyPr/>
          <a:lstStyle/>
          <a:p>
            <a:fld id="{96F86DA2-6F35-4111-ACB3-E2300C0C7C15}" type="datetimeFigureOut">
              <a:rPr lang="en-GB" smtClean="0"/>
              <a:t>13/09/2026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1841435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5780" y="2399982"/>
            <a:ext cx="8127648" cy="8399939"/>
          </a:xfrm>
        </p:spPr>
        <p:txBody>
          <a:bodyPr anchor="b"/>
          <a:lstStyle>
            <a:lvl1pPr>
              <a:defRPr sz="8819"/>
            </a:lvl1pPr>
          </a:lstStyle>
          <a:p>
            <a:r>
              <a:rPr lang="en-US"/>
              <a:t>Click to edit Master title style</a:t>
            </a:r>
            <a:endParaRPr lang="en-US" dirty="0"/>
          </a:p>
        </p:txBody>
      </p:sp>
      <p:sp>
        <p:nvSpPr>
          <p:cNvPr id="3" name="Picture Placeholder 2"/>
          <p:cNvSpPr>
            <a:spLocks noGrp="1" noChangeAspect="1"/>
          </p:cNvSpPr>
          <p:nvPr>
            <p:ph type="pic" idx="1"/>
          </p:nvPr>
        </p:nvSpPr>
        <p:spPr>
          <a:xfrm>
            <a:off x="10713272" y="5183304"/>
            <a:ext cx="12757487" cy="25583147"/>
          </a:xfrm>
        </p:spPr>
        <p:txBody>
          <a:bodyPr anchor="t"/>
          <a:lstStyle>
            <a:lvl1pPr marL="0" indent="0">
              <a:buNone/>
              <a:defRPr sz="8819"/>
            </a:lvl1pPr>
            <a:lvl2pPr marL="1259997" indent="0">
              <a:buNone/>
              <a:defRPr sz="7717"/>
            </a:lvl2pPr>
            <a:lvl3pPr marL="2519995" indent="0">
              <a:buNone/>
              <a:defRPr sz="6614"/>
            </a:lvl3pPr>
            <a:lvl4pPr marL="3779992" indent="0">
              <a:buNone/>
              <a:defRPr sz="5512"/>
            </a:lvl4pPr>
            <a:lvl5pPr marL="5039990" indent="0">
              <a:buNone/>
              <a:defRPr sz="5512"/>
            </a:lvl5pPr>
            <a:lvl6pPr marL="6299987" indent="0">
              <a:buNone/>
              <a:defRPr sz="5512"/>
            </a:lvl6pPr>
            <a:lvl7pPr marL="7559985" indent="0">
              <a:buNone/>
              <a:defRPr sz="5512"/>
            </a:lvl7pPr>
            <a:lvl8pPr marL="8819982" indent="0">
              <a:buNone/>
              <a:defRPr sz="5512"/>
            </a:lvl8pPr>
            <a:lvl9pPr marL="10079980" indent="0">
              <a:buNone/>
              <a:defRPr sz="5512"/>
            </a:lvl9pPr>
          </a:lstStyle>
          <a:p>
            <a:r>
              <a:rPr lang="en-US"/>
              <a:t>Click icon to add picture</a:t>
            </a:r>
            <a:endParaRPr lang="en-US" dirty="0"/>
          </a:p>
        </p:txBody>
      </p:sp>
      <p:sp>
        <p:nvSpPr>
          <p:cNvPr id="4" name="Text Placeholder 3"/>
          <p:cNvSpPr>
            <a:spLocks noGrp="1"/>
          </p:cNvSpPr>
          <p:nvPr>
            <p:ph type="body" sz="half" idx="2"/>
          </p:nvPr>
        </p:nvSpPr>
        <p:spPr>
          <a:xfrm>
            <a:off x="1735780" y="10799922"/>
            <a:ext cx="8127648" cy="20008190"/>
          </a:xfrm>
        </p:spPr>
        <p:txBody>
          <a:bodyPr/>
          <a:lstStyle>
            <a:lvl1pPr marL="0" indent="0">
              <a:buNone/>
              <a:defRPr sz="4409"/>
            </a:lvl1pPr>
            <a:lvl2pPr marL="1259997" indent="0">
              <a:buNone/>
              <a:defRPr sz="3858"/>
            </a:lvl2pPr>
            <a:lvl3pPr marL="2519995" indent="0">
              <a:buNone/>
              <a:defRPr sz="3307"/>
            </a:lvl3pPr>
            <a:lvl4pPr marL="3779992" indent="0">
              <a:buNone/>
              <a:defRPr sz="2756"/>
            </a:lvl4pPr>
            <a:lvl5pPr marL="5039990" indent="0">
              <a:buNone/>
              <a:defRPr sz="2756"/>
            </a:lvl5pPr>
            <a:lvl6pPr marL="6299987" indent="0">
              <a:buNone/>
              <a:defRPr sz="2756"/>
            </a:lvl6pPr>
            <a:lvl7pPr marL="7559985" indent="0">
              <a:buNone/>
              <a:defRPr sz="2756"/>
            </a:lvl7pPr>
            <a:lvl8pPr marL="8819982" indent="0">
              <a:buNone/>
              <a:defRPr sz="2756"/>
            </a:lvl8pPr>
            <a:lvl9pPr marL="10079980" indent="0">
              <a:buNone/>
              <a:defRPr sz="2756"/>
            </a:lvl9pPr>
          </a:lstStyle>
          <a:p>
            <a:pPr lvl="0"/>
            <a:r>
              <a:rPr lang="en-US"/>
              <a:t>Edit Master text styles</a:t>
            </a:r>
          </a:p>
        </p:txBody>
      </p:sp>
      <p:sp>
        <p:nvSpPr>
          <p:cNvPr id="5" name="Date Placeholder 4"/>
          <p:cNvSpPr>
            <a:spLocks noGrp="1"/>
          </p:cNvSpPr>
          <p:nvPr>
            <p:ph type="dt" sz="half" idx="10"/>
          </p:nvPr>
        </p:nvSpPr>
        <p:spPr/>
        <p:txBody>
          <a:bodyPr/>
          <a:lstStyle/>
          <a:p>
            <a:fld id="{96F86DA2-6F35-4111-ACB3-E2300C0C7C15}" type="datetimeFigureOut">
              <a:rPr lang="en-GB" smtClean="0"/>
              <a:t>13/09/2026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2154069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F86DA2-6F35-4111-ACB3-E2300C0C7C15}" type="datetimeFigureOut">
              <a:rPr lang="en-GB" smtClean="0"/>
              <a:t>13/09/2026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840168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8033733" y="1916653"/>
            <a:ext cx="5433745" cy="3050811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732500" y="1916653"/>
            <a:ext cx="15986234" cy="3050811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F86DA2-6F35-4111-ACB3-E2300C0C7C15}" type="datetimeFigureOut">
              <a:rPr lang="en-GB" smtClean="0"/>
              <a:t>13/09/2026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8C2CB9A-9BA4-4F40-AC33-1A1DB0F02AD0}" type="slidenum">
              <a:rPr lang="en-GB" smtClean="0"/>
              <a:t>‹#›</a:t>
            </a:fld>
            <a:endParaRPr lang="en-GB"/>
          </a:p>
        </p:txBody>
      </p:sp>
    </p:spTree>
    <p:extLst>
      <p:ext uri="{BB962C8B-B14F-4D97-AF65-F5344CB8AC3E}">
        <p14:creationId xmlns:p14="http://schemas.microsoft.com/office/powerpoint/2010/main" val="950892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32499" y="1916661"/>
            <a:ext cx="21734978" cy="695828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32499" y="9583264"/>
            <a:ext cx="21734978" cy="2284150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732498" y="33366432"/>
            <a:ext cx="5669994" cy="1916653"/>
          </a:xfrm>
          <a:prstGeom prst="rect">
            <a:avLst/>
          </a:prstGeom>
        </p:spPr>
        <p:txBody>
          <a:bodyPr vert="horz" lIns="91440" tIns="45720" rIns="91440" bIns="45720" rtlCol="0" anchor="ctr"/>
          <a:lstStyle>
            <a:lvl1pPr algn="l">
              <a:defRPr sz="3307">
                <a:solidFill>
                  <a:schemeClr val="tx1">
                    <a:tint val="75000"/>
                  </a:schemeClr>
                </a:solidFill>
              </a:defRPr>
            </a:lvl1pPr>
          </a:lstStyle>
          <a:p>
            <a:fld id="{96F86DA2-6F35-4111-ACB3-E2300C0C7C15}" type="datetimeFigureOut">
              <a:rPr lang="en-GB" smtClean="0"/>
              <a:t>13/09/2026</a:t>
            </a:fld>
            <a:endParaRPr lang="en-GB"/>
          </a:p>
        </p:txBody>
      </p:sp>
      <p:sp>
        <p:nvSpPr>
          <p:cNvPr id="5" name="Footer Placeholder 4"/>
          <p:cNvSpPr>
            <a:spLocks noGrp="1"/>
          </p:cNvSpPr>
          <p:nvPr>
            <p:ph type="ftr" sz="quarter" idx="3"/>
          </p:nvPr>
        </p:nvSpPr>
        <p:spPr>
          <a:xfrm>
            <a:off x="8347492" y="33366432"/>
            <a:ext cx="8504992" cy="1916653"/>
          </a:xfrm>
          <a:prstGeom prst="rect">
            <a:avLst/>
          </a:prstGeom>
        </p:spPr>
        <p:txBody>
          <a:bodyPr vert="horz" lIns="91440" tIns="45720" rIns="91440" bIns="45720" rtlCol="0" anchor="ctr"/>
          <a:lstStyle>
            <a:lvl1pPr algn="ctr">
              <a:defRPr sz="3307">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7797483" y="33366432"/>
            <a:ext cx="5669994" cy="1916653"/>
          </a:xfrm>
          <a:prstGeom prst="rect">
            <a:avLst/>
          </a:prstGeom>
        </p:spPr>
        <p:txBody>
          <a:bodyPr vert="horz" lIns="91440" tIns="45720" rIns="91440" bIns="45720" rtlCol="0" anchor="ctr"/>
          <a:lstStyle>
            <a:lvl1pPr algn="r">
              <a:defRPr sz="3307">
                <a:solidFill>
                  <a:schemeClr val="tx1">
                    <a:tint val="75000"/>
                  </a:schemeClr>
                </a:solidFill>
              </a:defRPr>
            </a:lvl1pPr>
          </a:lstStyle>
          <a:p>
            <a:fld id="{18C2CB9A-9BA4-4F40-AC33-1A1DB0F02AD0}" type="slidenum">
              <a:rPr lang="en-GB" smtClean="0"/>
              <a:t>‹#›</a:t>
            </a:fld>
            <a:endParaRPr lang="en-GB"/>
          </a:p>
        </p:txBody>
      </p:sp>
    </p:spTree>
    <p:extLst>
      <p:ext uri="{BB962C8B-B14F-4D97-AF65-F5344CB8AC3E}">
        <p14:creationId xmlns:p14="http://schemas.microsoft.com/office/powerpoint/2010/main" val="25728026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519995" rtl="0" eaLnBrk="1" latinLnBrk="0" hangingPunct="1">
        <a:lnSpc>
          <a:spcPct val="90000"/>
        </a:lnSpc>
        <a:spcBef>
          <a:spcPct val="0"/>
        </a:spcBef>
        <a:buNone/>
        <a:defRPr sz="12126" kern="1200">
          <a:solidFill>
            <a:schemeClr val="tx1"/>
          </a:solidFill>
          <a:latin typeface="+mj-lt"/>
          <a:ea typeface="+mj-ea"/>
          <a:cs typeface="+mj-cs"/>
        </a:defRPr>
      </a:lvl1pPr>
    </p:titleStyle>
    <p:bodyStyle>
      <a:lvl1pPr marL="629999" indent="-629999" algn="l" defTabSz="2519995" rtl="0" eaLnBrk="1" latinLnBrk="0" hangingPunct="1">
        <a:lnSpc>
          <a:spcPct val="90000"/>
        </a:lnSpc>
        <a:spcBef>
          <a:spcPts val="2756"/>
        </a:spcBef>
        <a:buFont typeface="Arial" panose="020B0604020202020204" pitchFamily="34" charset="0"/>
        <a:buChar char="•"/>
        <a:defRPr sz="7717" kern="1200">
          <a:solidFill>
            <a:schemeClr val="tx1"/>
          </a:solidFill>
          <a:latin typeface="+mn-lt"/>
          <a:ea typeface="+mn-ea"/>
          <a:cs typeface="+mn-cs"/>
        </a:defRPr>
      </a:lvl1pPr>
      <a:lvl2pPr marL="1889996" indent="-629999" algn="l" defTabSz="2519995" rtl="0" eaLnBrk="1" latinLnBrk="0" hangingPunct="1">
        <a:lnSpc>
          <a:spcPct val="90000"/>
        </a:lnSpc>
        <a:spcBef>
          <a:spcPts val="1378"/>
        </a:spcBef>
        <a:buFont typeface="Arial" panose="020B0604020202020204" pitchFamily="34" charset="0"/>
        <a:buChar char="•"/>
        <a:defRPr sz="6614" kern="1200">
          <a:solidFill>
            <a:schemeClr val="tx1"/>
          </a:solidFill>
          <a:latin typeface="+mn-lt"/>
          <a:ea typeface="+mn-ea"/>
          <a:cs typeface="+mn-cs"/>
        </a:defRPr>
      </a:lvl2pPr>
      <a:lvl3pPr marL="3149994" indent="-629999" algn="l" defTabSz="2519995" rtl="0" eaLnBrk="1" latinLnBrk="0" hangingPunct="1">
        <a:lnSpc>
          <a:spcPct val="90000"/>
        </a:lnSpc>
        <a:spcBef>
          <a:spcPts val="1378"/>
        </a:spcBef>
        <a:buFont typeface="Arial" panose="020B0604020202020204" pitchFamily="34" charset="0"/>
        <a:buChar char="•"/>
        <a:defRPr sz="5512" kern="1200">
          <a:solidFill>
            <a:schemeClr val="tx1"/>
          </a:solidFill>
          <a:latin typeface="+mn-lt"/>
          <a:ea typeface="+mn-ea"/>
          <a:cs typeface="+mn-cs"/>
        </a:defRPr>
      </a:lvl3pPr>
      <a:lvl4pPr marL="4409991"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4pPr>
      <a:lvl5pPr marL="5669989"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5pPr>
      <a:lvl6pPr marL="6929986"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6pPr>
      <a:lvl7pPr marL="8189984"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7pPr>
      <a:lvl8pPr marL="9449981"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8pPr>
      <a:lvl9pPr marL="10709979"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9pPr>
    </p:bodyStyle>
    <p:otherStyle>
      <a:defPPr>
        <a:defRPr lang="en-US"/>
      </a:defPPr>
      <a:lvl1pPr marL="0" algn="l" defTabSz="2519995" rtl="0" eaLnBrk="1" latinLnBrk="0" hangingPunct="1">
        <a:defRPr sz="4961" kern="1200">
          <a:solidFill>
            <a:schemeClr val="tx1"/>
          </a:solidFill>
          <a:latin typeface="+mn-lt"/>
          <a:ea typeface="+mn-ea"/>
          <a:cs typeface="+mn-cs"/>
        </a:defRPr>
      </a:lvl1pPr>
      <a:lvl2pPr marL="1259997" algn="l" defTabSz="2519995" rtl="0" eaLnBrk="1" latinLnBrk="0" hangingPunct="1">
        <a:defRPr sz="4961" kern="1200">
          <a:solidFill>
            <a:schemeClr val="tx1"/>
          </a:solidFill>
          <a:latin typeface="+mn-lt"/>
          <a:ea typeface="+mn-ea"/>
          <a:cs typeface="+mn-cs"/>
        </a:defRPr>
      </a:lvl2pPr>
      <a:lvl3pPr marL="2519995" algn="l" defTabSz="2519995" rtl="0" eaLnBrk="1" latinLnBrk="0" hangingPunct="1">
        <a:defRPr sz="4961" kern="1200">
          <a:solidFill>
            <a:schemeClr val="tx1"/>
          </a:solidFill>
          <a:latin typeface="+mn-lt"/>
          <a:ea typeface="+mn-ea"/>
          <a:cs typeface="+mn-cs"/>
        </a:defRPr>
      </a:lvl3pPr>
      <a:lvl4pPr marL="3779992" algn="l" defTabSz="2519995" rtl="0" eaLnBrk="1" latinLnBrk="0" hangingPunct="1">
        <a:defRPr sz="4961" kern="1200">
          <a:solidFill>
            <a:schemeClr val="tx1"/>
          </a:solidFill>
          <a:latin typeface="+mn-lt"/>
          <a:ea typeface="+mn-ea"/>
          <a:cs typeface="+mn-cs"/>
        </a:defRPr>
      </a:lvl4pPr>
      <a:lvl5pPr marL="5039990" algn="l" defTabSz="2519995" rtl="0" eaLnBrk="1" latinLnBrk="0" hangingPunct="1">
        <a:defRPr sz="4961" kern="1200">
          <a:solidFill>
            <a:schemeClr val="tx1"/>
          </a:solidFill>
          <a:latin typeface="+mn-lt"/>
          <a:ea typeface="+mn-ea"/>
          <a:cs typeface="+mn-cs"/>
        </a:defRPr>
      </a:lvl5pPr>
      <a:lvl6pPr marL="6299987" algn="l" defTabSz="2519995" rtl="0" eaLnBrk="1" latinLnBrk="0" hangingPunct="1">
        <a:defRPr sz="4961" kern="1200">
          <a:solidFill>
            <a:schemeClr val="tx1"/>
          </a:solidFill>
          <a:latin typeface="+mn-lt"/>
          <a:ea typeface="+mn-ea"/>
          <a:cs typeface="+mn-cs"/>
        </a:defRPr>
      </a:lvl6pPr>
      <a:lvl7pPr marL="7559985" algn="l" defTabSz="2519995" rtl="0" eaLnBrk="1" latinLnBrk="0" hangingPunct="1">
        <a:defRPr sz="4961" kern="1200">
          <a:solidFill>
            <a:schemeClr val="tx1"/>
          </a:solidFill>
          <a:latin typeface="+mn-lt"/>
          <a:ea typeface="+mn-ea"/>
          <a:cs typeface="+mn-cs"/>
        </a:defRPr>
      </a:lvl7pPr>
      <a:lvl8pPr marL="8819982" algn="l" defTabSz="2519995" rtl="0" eaLnBrk="1" latinLnBrk="0" hangingPunct="1">
        <a:defRPr sz="4961" kern="1200">
          <a:solidFill>
            <a:schemeClr val="tx1"/>
          </a:solidFill>
          <a:latin typeface="+mn-lt"/>
          <a:ea typeface="+mn-ea"/>
          <a:cs typeface="+mn-cs"/>
        </a:defRPr>
      </a:lvl8pPr>
      <a:lvl9pPr marL="10079980" algn="l" defTabSz="2519995" rtl="0" eaLnBrk="1" latinLnBrk="0" hangingPunct="1">
        <a:defRPr sz="496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E55D3C5-B04D-41A5-9B17-C157FCAEF508}"/>
              </a:ext>
            </a:extLst>
          </p:cNvPr>
          <p:cNvGraphicFramePr>
            <a:graphicFrameLocks noGrp="1"/>
          </p:cNvGraphicFramePr>
          <p:nvPr>
            <p:extLst>
              <p:ext uri="{D42A27DB-BD31-4B8C-83A1-F6EECF244321}">
                <p14:modId xmlns:p14="http://schemas.microsoft.com/office/powerpoint/2010/main" val="1588978990"/>
              </p:ext>
            </p:extLst>
          </p:nvPr>
        </p:nvGraphicFramePr>
        <p:xfrm>
          <a:off x="818147" y="665380"/>
          <a:ext cx="23509706" cy="6156960"/>
        </p:xfrm>
        <a:graphic>
          <a:graphicData uri="http://schemas.openxmlformats.org/drawingml/2006/table">
            <a:tbl>
              <a:tblPr firstRow="1" bandRow="1">
                <a:tableStyleId>{5C22544A-7EE6-4342-B048-85BDC9FD1C3A}</a:tableStyleId>
              </a:tblPr>
              <a:tblGrid>
                <a:gridCol w="5558590">
                  <a:extLst>
                    <a:ext uri="{9D8B030D-6E8A-4147-A177-3AD203B41FA5}">
                      <a16:colId xmlns:a16="http://schemas.microsoft.com/office/drawing/2014/main" val="4092810084"/>
                    </a:ext>
                  </a:extLst>
                </a:gridCol>
                <a:gridCol w="13759518">
                  <a:extLst>
                    <a:ext uri="{9D8B030D-6E8A-4147-A177-3AD203B41FA5}">
                      <a16:colId xmlns:a16="http://schemas.microsoft.com/office/drawing/2014/main" val="3944608498"/>
                    </a:ext>
                  </a:extLst>
                </a:gridCol>
                <a:gridCol w="4191598">
                  <a:extLst>
                    <a:ext uri="{9D8B030D-6E8A-4147-A177-3AD203B41FA5}">
                      <a16:colId xmlns:a16="http://schemas.microsoft.com/office/drawing/2014/main" val="3295376166"/>
                    </a:ext>
                  </a:extLst>
                </a:gridCol>
              </a:tblGrid>
              <a:tr h="1781860">
                <a:tc>
                  <a:txBody>
                    <a:bodyPr/>
                    <a:lstStyle/>
                    <a:p>
                      <a:pPr marL="0" marR="0" lvl="0" indent="0" algn="ctr" defTabSz="2519995" rtl="0" eaLnBrk="1" fontAlgn="auto" latinLnBrk="0" hangingPunct="1">
                        <a:lnSpc>
                          <a:spcPct val="100000"/>
                        </a:lnSpc>
                        <a:spcBef>
                          <a:spcPts val="0"/>
                        </a:spcBef>
                        <a:spcAft>
                          <a:spcPts val="0"/>
                        </a:spcAft>
                        <a:buClrTx/>
                        <a:buSzTx/>
                        <a:buFontTx/>
                        <a:buNone/>
                        <a:tabLst/>
                        <a:defRPr/>
                      </a:pPr>
                      <a:r>
                        <a:rPr lang="he-IL" sz="4000" dirty="0">
                          <a:solidFill>
                            <a:srgbClr val="31333F"/>
                          </a:solidFill>
                        </a:rPr>
                        <a:t>מבוא לאבטחת סייבר מונחית בינה מלאכותית</a:t>
                      </a:r>
                    </a:p>
                  </a:txBody>
                  <a:tcPr anchor="ctr">
                    <a:solidFill>
                      <a:srgbClr val="F0F2F6"/>
                    </a:solidFill>
                  </a:tcPr>
                </a:tc>
                <a:tc rowSpan="2">
                  <a:txBody>
                    <a:bodyPr/>
                    <a:lstStyle/>
                    <a:p>
                      <a:pPr algn="ctr" rtl="1"/>
                      <a:r>
                        <a:rPr lang="he-IL" sz="7600" dirty="0">
                          <a:solidFill>
                            <a:srgbClr val="31333F"/>
                          </a:solidFill>
                        </a:rPr>
                        <a:t>מנוע גילוי איומי סייבר היברידי עם אינטגרציית </a:t>
                      </a:r>
                      <a:r>
                        <a:rPr lang="en-US" sz="7600" dirty="0">
                          <a:solidFill>
                            <a:srgbClr val="31333F"/>
                          </a:solidFill>
                        </a:rPr>
                        <a:t>MITRE ATT&amp;CK STIX / Hybrid SOC Threat Detector with MITRE ATT&amp;CK STIX Integration</a:t>
                      </a:r>
                      <a:endParaRPr lang="he-IL" sz="7600" dirty="0">
                        <a:solidFill>
                          <a:srgbClr val="31333F"/>
                        </a:solidFill>
                      </a:endParaRPr>
                    </a:p>
                    <a:p>
                      <a:pPr algn="ctr"/>
                      <a:r>
                        <a:rPr lang="he-IL" sz="5400" dirty="0">
                          <a:solidFill>
                            <a:srgbClr val="31333F"/>
                          </a:solidFill>
                        </a:rPr>
                        <a:t>שחר </a:t>
                      </a:r>
                      <a:r>
                        <a:rPr lang="he-IL" sz="5400" dirty="0" err="1">
                          <a:solidFill>
                            <a:srgbClr val="31333F"/>
                          </a:solidFill>
                        </a:rPr>
                        <a:t>לריה</a:t>
                      </a:r>
                      <a:endParaRPr lang="he-IL" sz="5400" dirty="0">
                        <a:solidFill>
                          <a:srgbClr val="31333F"/>
                        </a:solidFill>
                      </a:endParaRPr>
                    </a:p>
                    <a:p>
                      <a:pPr algn="ctr"/>
                      <a:r>
                        <a:rPr lang="he-IL" sz="4000" dirty="0">
                          <a:solidFill>
                            <a:srgbClr val="31333F"/>
                          </a:solidFill>
                        </a:rPr>
                        <a:t>תשפ"ו, סמסטר קיץ</a:t>
                      </a:r>
                      <a:endParaRPr lang="en-GB" sz="4000" b="1" kern="1200" dirty="0">
                        <a:solidFill>
                          <a:srgbClr val="31333F"/>
                        </a:solidFill>
                        <a:latin typeface="Arial" panose="020B0604020202020204" pitchFamily="34" charset="0"/>
                        <a:ea typeface="+mn-ea"/>
                        <a:cs typeface="Arial" panose="020B0604020202020204" pitchFamily="34" charset="0"/>
                      </a:endParaRPr>
                    </a:p>
                  </a:txBody>
                  <a:tcPr anchor="ctr">
                    <a:solidFill>
                      <a:srgbClr val="F0F2F6"/>
                    </a:solidFill>
                  </a:tcPr>
                </a:tc>
                <a:tc rowSpan="2">
                  <a:txBody>
                    <a:bodyPr/>
                    <a:lstStyle/>
                    <a:p>
                      <a:endParaRPr lang="en-GB" dirty="0">
                        <a:solidFill>
                          <a:srgbClr val="31333F"/>
                        </a:solidFill>
                      </a:endParaRPr>
                    </a:p>
                  </a:txBody>
                  <a:tcPr>
                    <a:solidFill>
                      <a:srgbClr val="F0F2F6"/>
                    </a:solidFill>
                  </a:tcPr>
                </a:tc>
                <a:extLst>
                  <a:ext uri="{0D108BD9-81ED-4DB2-BD59-A6C34878D82A}">
                    <a16:rowId xmlns:a16="http://schemas.microsoft.com/office/drawing/2014/main" val="1622067825"/>
                  </a:ext>
                </a:extLst>
              </a:tr>
              <a:tr h="1781860">
                <a:tc>
                  <a:txBody>
                    <a:bodyPr/>
                    <a:lstStyle/>
                    <a:p>
                      <a:pPr marL="0" marR="0" lvl="0" indent="0" algn="ctr" defTabSz="2519995" rtl="0" eaLnBrk="1" fontAlgn="auto" latinLnBrk="0" hangingPunct="1">
                        <a:lnSpc>
                          <a:spcPct val="100000"/>
                        </a:lnSpc>
                        <a:spcBef>
                          <a:spcPts val="0"/>
                        </a:spcBef>
                        <a:spcAft>
                          <a:spcPts val="0"/>
                        </a:spcAft>
                        <a:buClrTx/>
                        <a:buSzTx/>
                        <a:buFontTx/>
                        <a:buNone/>
                        <a:tabLst/>
                        <a:defRPr/>
                      </a:pPr>
                      <a:r>
                        <a:rPr lang="he-IL" sz="5400" b="1" dirty="0" err="1">
                          <a:solidFill>
                            <a:srgbClr val="31333F"/>
                          </a:solidFill>
                        </a:rPr>
                        <a:t>אנדריי</a:t>
                      </a:r>
                      <a:r>
                        <a:rPr lang="he-IL" sz="5400" b="1" dirty="0">
                          <a:solidFill>
                            <a:srgbClr val="31333F"/>
                          </a:solidFill>
                        </a:rPr>
                        <a:t> </a:t>
                      </a:r>
                      <a:r>
                        <a:rPr lang="he-IL" sz="5400" b="1" dirty="0" err="1">
                          <a:solidFill>
                            <a:srgbClr val="31333F"/>
                          </a:solidFill>
                        </a:rPr>
                        <a:t>קוזוכוב</a:t>
                      </a:r>
                      <a:endParaRPr lang="en-GB" sz="5400" b="1" dirty="0">
                        <a:solidFill>
                          <a:srgbClr val="31333F"/>
                        </a:solidFill>
                      </a:endParaRPr>
                    </a:p>
                  </a:txBody>
                  <a:tcPr anchor="ctr">
                    <a:solidFill>
                      <a:srgbClr val="F0F2F6"/>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987700668"/>
                  </a:ext>
                </a:extLst>
              </a:tr>
            </a:tbl>
          </a:graphicData>
        </a:graphic>
      </p:graphicFrame>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42094" y="921852"/>
            <a:ext cx="3482808" cy="2459733"/>
          </a:xfrm>
          <a:prstGeom prst="rect">
            <a:avLst/>
          </a:prstGeom>
        </p:spPr>
      </p:pic>
      <p:sp>
        <p:nvSpPr>
          <p:cNvPr id="32" name="מלבן: פינות מעוגלות 31">
            <a:extLst>
              <a:ext uri="{FF2B5EF4-FFF2-40B4-BE49-F238E27FC236}">
                <a16:creationId xmlns:a16="http://schemas.microsoft.com/office/drawing/2014/main" id="{6C598395-EB87-19AF-5FA4-7B0A5CF906A2}"/>
              </a:ext>
            </a:extLst>
          </p:cNvPr>
          <p:cNvSpPr/>
          <p:nvPr/>
        </p:nvSpPr>
        <p:spPr>
          <a:xfrm>
            <a:off x="818147" y="7229650"/>
            <a:ext cx="23632664" cy="28465152"/>
          </a:xfrm>
          <a:prstGeom prst="roundRect">
            <a:avLst>
              <a:gd name="adj" fmla="val 7751"/>
            </a:avLst>
          </a:prstGeom>
          <a:solidFill>
            <a:srgbClr val="F0F2F6"/>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r" rtl="1"/>
            <a:r>
              <a:rPr lang="he-IL" sz="5400" b="1" dirty="0" err="1">
                <a:solidFill>
                  <a:srgbClr val="31333F"/>
                </a:solidFill>
              </a:rPr>
              <a:t>Introductio</a:t>
            </a:r>
            <a:r>
              <a:rPr lang="en-US" sz="5400" b="1" dirty="0">
                <a:solidFill>
                  <a:srgbClr val="31333F"/>
                </a:solidFill>
              </a:rPr>
              <a:t>n</a:t>
            </a:r>
            <a:r>
              <a:rPr lang="he-IL" sz="5400" b="1" dirty="0">
                <a:solidFill>
                  <a:srgbClr val="31333F"/>
                </a:solidFill>
              </a:rPr>
              <a:t> (הקדמה ומטרות הפרויקט)</a:t>
            </a:r>
          </a:p>
          <a:p>
            <a:pPr algn="r" rtl="1"/>
            <a:r>
              <a:rPr lang="he-IL" sz="3600" dirty="0">
                <a:solidFill>
                  <a:srgbClr val="31333F"/>
                </a:solidFill>
              </a:rPr>
              <a:t>מרכזי ה-SOC (</a:t>
            </a:r>
            <a:r>
              <a:rPr lang="he-IL" sz="3600" dirty="0" err="1">
                <a:solidFill>
                  <a:srgbClr val="31333F"/>
                </a:solidFill>
              </a:rPr>
              <a:t>Security</a:t>
            </a:r>
            <a:r>
              <a:rPr lang="he-IL" sz="3600" dirty="0">
                <a:solidFill>
                  <a:srgbClr val="31333F"/>
                </a:solidFill>
              </a:rPr>
              <a:t> </a:t>
            </a:r>
            <a:r>
              <a:rPr lang="he-IL" sz="3600" dirty="0" err="1">
                <a:solidFill>
                  <a:srgbClr val="31333F"/>
                </a:solidFill>
              </a:rPr>
              <a:t>Operations</a:t>
            </a:r>
            <a:r>
              <a:rPr lang="he-IL" sz="3600" dirty="0">
                <a:solidFill>
                  <a:srgbClr val="31333F"/>
                </a:solidFill>
              </a:rPr>
              <a:t> </a:t>
            </a:r>
            <a:r>
              <a:rPr lang="he-IL" sz="3600" dirty="0" err="1">
                <a:solidFill>
                  <a:srgbClr val="31333F"/>
                </a:solidFill>
              </a:rPr>
              <a:t>Center</a:t>
            </a:r>
            <a:r>
              <a:rPr lang="he-IL" sz="3600" dirty="0">
                <a:solidFill>
                  <a:srgbClr val="31333F"/>
                </a:solidFill>
              </a:rPr>
              <a:t>) המודרניים מתמודדים עם אתגר כפול: עומס התראות שווא (</a:t>
            </a:r>
            <a:r>
              <a:rPr lang="he-IL" sz="3600" dirty="0" err="1">
                <a:solidFill>
                  <a:srgbClr val="31333F"/>
                </a:solidFill>
              </a:rPr>
              <a:t>Alert</a:t>
            </a:r>
            <a:r>
              <a:rPr lang="he-IL" sz="3600" dirty="0">
                <a:solidFill>
                  <a:srgbClr val="31333F"/>
                </a:solidFill>
              </a:rPr>
              <a:t> </a:t>
            </a:r>
            <a:r>
              <a:rPr lang="he-IL" sz="3600" dirty="0" err="1">
                <a:solidFill>
                  <a:srgbClr val="31333F"/>
                </a:solidFill>
              </a:rPr>
              <a:t>Fatigue</a:t>
            </a:r>
            <a:r>
              <a:rPr lang="he-IL" sz="3600" dirty="0">
                <a:solidFill>
                  <a:srgbClr val="31333F"/>
                </a:solidFill>
              </a:rPr>
              <a:t>) מצד אחד, וחוסר יכולת של כללי חתימות סטטיים (</a:t>
            </a:r>
            <a:r>
              <a:rPr lang="he-IL" sz="3600" dirty="0" err="1">
                <a:solidFill>
                  <a:srgbClr val="31333F"/>
                </a:solidFill>
              </a:rPr>
              <a:t>Signature-based</a:t>
            </a:r>
            <a:r>
              <a:rPr lang="he-IL" sz="3600" dirty="0">
                <a:solidFill>
                  <a:srgbClr val="31333F"/>
                </a:solidFill>
              </a:rPr>
              <a:t> </a:t>
            </a:r>
            <a:r>
              <a:rPr lang="he-IL" sz="3600" dirty="0" err="1">
                <a:solidFill>
                  <a:srgbClr val="31333F"/>
                </a:solidFill>
              </a:rPr>
              <a:t>rules</a:t>
            </a:r>
            <a:r>
              <a:rPr lang="he-IL" sz="3600" dirty="0">
                <a:solidFill>
                  <a:srgbClr val="31333F"/>
                </a:solidFill>
              </a:rPr>
              <a:t>) לזהות איומים מתקדמים או גרסאות </a:t>
            </a:r>
            <a:r>
              <a:rPr lang="he-IL" sz="3600" dirty="0" err="1">
                <a:solidFill>
                  <a:srgbClr val="31333F"/>
                </a:solidFill>
              </a:rPr>
              <a:t>Zero-Day</a:t>
            </a:r>
            <a:r>
              <a:rPr lang="he-IL" sz="3600" dirty="0">
                <a:solidFill>
                  <a:srgbClr val="31333F"/>
                </a:solidFill>
              </a:rPr>
              <a:t> מצד שני. פרויקט זה מפתח ומיישם ארכיטקטורה היברידית חדשנית (</a:t>
            </a:r>
            <a:r>
              <a:rPr lang="he-IL" sz="3600" dirty="0" err="1">
                <a:solidFill>
                  <a:srgbClr val="31333F"/>
                </a:solidFill>
              </a:rPr>
              <a:t>Hybrid</a:t>
            </a:r>
            <a:r>
              <a:rPr lang="he-IL" sz="3600" dirty="0">
                <a:solidFill>
                  <a:srgbClr val="31333F"/>
                </a:solidFill>
              </a:rPr>
              <a:t> SOC </a:t>
            </a:r>
            <a:r>
              <a:rPr lang="he-IL" sz="3600" dirty="0" err="1">
                <a:solidFill>
                  <a:srgbClr val="31333F"/>
                </a:solidFill>
              </a:rPr>
              <a:t>Detector</a:t>
            </a:r>
            <a:r>
              <a:rPr lang="he-IL" sz="3600" dirty="0">
                <a:solidFill>
                  <a:srgbClr val="31333F"/>
                </a:solidFill>
              </a:rPr>
              <a:t>) בסביבת </a:t>
            </a:r>
            <a:r>
              <a:rPr lang="he-IL" sz="3600" dirty="0" err="1">
                <a:solidFill>
                  <a:srgbClr val="31333F"/>
                </a:solidFill>
              </a:rPr>
              <a:t>Docker</a:t>
            </a:r>
            <a:r>
              <a:rPr lang="he-IL" sz="3600" dirty="0">
                <a:solidFill>
                  <a:srgbClr val="31333F"/>
                </a:solidFill>
              </a:rPr>
              <a:t> מבודדת, המשלבת זיהוי דטרמיניסטי מוכר יחד עם למידת מכונה לאנליזת אנומליות, לצד סנכרון אוטומטי ומובנה מול בסיס הידע העולמי של </a:t>
            </a:r>
            <a:r>
              <a:rPr lang="he-IL" sz="3600" b="1" dirty="0">
                <a:solidFill>
                  <a:srgbClr val="31333F"/>
                </a:solidFill>
              </a:rPr>
              <a:t>MITRE ATT&amp;CK</a:t>
            </a:r>
            <a:r>
              <a:rPr lang="he-IL" sz="3600" dirty="0">
                <a:solidFill>
                  <a:srgbClr val="31333F"/>
                </a:solidFill>
              </a:rPr>
              <a:t> באמצעות חבילות </a:t>
            </a:r>
            <a:r>
              <a:rPr lang="he-IL" sz="3600" b="1" dirty="0">
                <a:solidFill>
                  <a:srgbClr val="31333F"/>
                </a:solidFill>
              </a:rPr>
              <a:t>STIX (</a:t>
            </a:r>
            <a:r>
              <a:rPr lang="he-IL" sz="3600" b="1" dirty="0" err="1">
                <a:solidFill>
                  <a:srgbClr val="31333F"/>
                </a:solidFill>
              </a:rPr>
              <a:t>Structured</a:t>
            </a:r>
            <a:r>
              <a:rPr lang="he-IL" sz="3600" b="1" dirty="0">
                <a:solidFill>
                  <a:srgbClr val="31333F"/>
                </a:solidFill>
              </a:rPr>
              <a:t> </a:t>
            </a:r>
            <a:r>
              <a:rPr lang="he-IL" sz="3600" b="1" dirty="0" err="1">
                <a:solidFill>
                  <a:srgbClr val="31333F"/>
                </a:solidFill>
              </a:rPr>
              <a:t>Threat</a:t>
            </a:r>
            <a:r>
              <a:rPr lang="he-IL" sz="3600" b="1" dirty="0">
                <a:solidFill>
                  <a:srgbClr val="31333F"/>
                </a:solidFill>
              </a:rPr>
              <a:t> </a:t>
            </a:r>
            <a:r>
              <a:rPr lang="he-IL" sz="3600" b="1" dirty="0" err="1">
                <a:solidFill>
                  <a:srgbClr val="31333F"/>
                </a:solidFill>
              </a:rPr>
              <a:t>Information</a:t>
            </a:r>
            <a:r>
              <a:rPr lang="he-IL" sz="3600" b="1" dirty="0">
                <a:solidFill>
                  <a:srgbClr val="31333F"/>
                </a:solidFill>
              </a:rPr>
              <a:t> </a:t>
            </a:r>
            <a:r>
              <a:rPr lang="he-IL" sz="3600" b="1" dirty="0" err="1">
                <a:solidFill>
                  <a:srgbClr val="31333F"/>
                </a:solidFill>
              </a:rPr>
              <a:t>Expression</a:t>
            </a:r>
            <a:r>
              <a:rPr lang="he-IL" sz="3600" b="1" dirty="0">
                <a:solidFill>
                  <a:srgbClr val="31333F"/>
                </a:solidFill>
              </a:rPr>
              <a:t>)</a:t>
            </a:r>
            <a:r>
              <a:rPr lang="he-IL" sz="3600" dirty="0">
                <a:solidFill>
                  <a:srgbClr val="31333F"/>
                </a:solidFill>
              </a:rPr>
              <a:t>. מטרת העל היא לספק מנגנון גילוי רב-שכבתי המצמצם את שיעור התראות השווא ומעשיר את הממצאים בהקשר מודיעיני בזמן אמת.</a:t>
            </a:r>
          </a:p>
          <a:p>
            <a:pPr algn="r" rtl="1"/>
            <a:r>
              <a:rPr lang="he-IL" sz="5400" b="1" dirty="0">
                <a:solidFill>
                  <a:srgbClr val="31333F"/>
                </a:solidFill>
              </a:rPr>
              <a:t> </a:t>
            </a:r>
            <a:r>
              <a:rPr lang="he-IL" sz="5400" b="1" dirty="0" err="1">
                <a:solidFill>
                  <a:srgbClr val="31333F"/>
                </a:solidFill>
              </a:rPr>
              <a:t>Methodology</a:t>
            </a:r>
            <a:r>
              <a:rPr lang="he-IL" sz="5400" b="1" dirty="0">
                <a:solidFill>
                  <a:srgbClr val="31333F"/>
                </a:solidFill>
              </a:rPr>
              <a:t> &amp; </a:t>
            </a:r>
            <a:r>
              <a:rPr lang="he-IL" sz="5400" b="1" dirty="0" err="1">
                <a:solidFill>
                  <a:srgbClr val="31333F"/>
                </a:solidFill>
              </a:rPr>
              <a:t>Algorithm</a:t>
            </a:r>
            <a:r>
              <a:rPr lang="he-IL" sz="5400" b="1" dirty="0">
                <a:solidFill>
                  <a:srgbClr val="31333F"/>
                </a:solidFill>
              </a:rPr>
              <a:t> </a:t>
            </a:r>
            <a:r>
              <a:rPr lang="he-IL" sz="5400" b="1" dirty="0" err="1">
                <a:solidFill>
                  <a:srgbClr val="31333F"/>
                </a:solidFill>
              </a:rPr>
              <a:t>Pipeline</a:t>
            </a:r>
            <a:r>
              <a:rPr lang="he-IL" sz="5400" b="1" dirty="0">
                <a:solidFill>
                  <a:srgbClr val="31333F"/>
                </a:solidFill>
              </a:rPr>
              <a:t> (מתודולוגיה ואלגוריתמיקה)</a:t>
            </a:r>
          </a:p>
          <a:p>
            <a:pPr algn="r" rtl="1"/>
            <a:r>
              <a:rPr lang="he-IL" sz="3600" dirty="0">
                <a:solidFill>
                  <a:srgbClr val="31333F"/>
                </a:solidFill>
              </a:rPr>
              <a:t>הליבה של מנוע הגילוי מבוססת על צינור עיבוד נתונים (</a:t>
            </a:r>
            <a:r>
              <a:rPr lang="he-IL" sz="3600" dirty="0" err="1">
                <a:solidFill>
                  <a:srgbClr val="31333F"/>
                </a:solidFill>
              </a:rPr>
              <a:t>Pipeline</a:t>
            </a:r>
            <a:r>
              <a:rPr lang="he-IL" sz="3600" dirty="0">
                <a:solidFill>
                  <a:srgbClr val="31333F"/>
                </a:solidFill>
              </a:rPr>
              <a:t>) דו-שכבתי:</a:t>
            </a:r>
          </a:p>
          <a:p>
            <a:pPr lvl="0" algn="r" rtl="1"/>
            <a:r>
              <a:rPr lang="he-IL" sz="3600" b="1" dirty="0">
                <a:solidFill>
                  <a:srgbClr val="31333F"/>
                </a:solidFill>
              </a:rPr>
              <a:t>שכבה דטרמיניסטית (</a:t>
            </a:r>
            <a:r>
              <a:rPr lang="he-IL" sz="3600" b="1" dirty="0" err="1">
                <a:solidFill>
                  <a:srgbClr val="31333F"/>
                </a:solidFill>
              </a:rPr>
              <a:t>Signature</a:t>
            </a:r>
            <a:r>
              <a:rPr lang="he-IL" sz="3600" b="1" dirty="0">
                <a:solidFill>
                  <a:srgbClr val="31333F"/>
                </a:solidFill>
              </a:rPr>
              <a:t> </a:t>
            </a:r>
            <a:r>
              <a:rPr lang="he-IL" sz="3600" b="1" dirty="0" err="1">
                <a:solidFill>
                  <a:srgbClr val="31333F"/>
                </a:solidFill>
              </a:rPr>
              <a:t>Engine</a:t>
            </a:r>
            <a:r>
              <a:rPr lang="he-IL" sz="3600" b="1" dirty="0">
                <a:solidFill>
                  <a:srgbClr val="31333F"/>
                </a:solidFill>
              </a:rPr>
              <a:t>):</a:t>
            </a:r>
            <a:r>
              <a:rPr lang="he-IL" sz="3600" dirty="0">
                <a:solidFill>
                  <a:srgbClr val="31333F"/>
                </a:solidFill>
              </a:rPr>
              <a:t> סריקת לוגים תפעוליים והצלבתם מול חוקי חתימה מוגדרים מראש לאיתור תקיפות ידועות (כגון </a:t>
            </a:r>
            <a:r>
              <a:rPr lang="he-IL" sz="3600" dirty="0" err="1">
                <a:solidFill>
                  <a:srgbClr val="31333F"/>
                </a:solidFill>
              </a:rPr>
              <a:t>Brute-force</a:t>
            </a:r>
            <a:r>
              <a:rPr lang="he-IL" sz="3600" dirty="0">
                <a:solidFill>
                  <a:srgbClr val="31333F"/>
                </a:solidFill>
              </a:rPr>
              <a:t>, סריקות פורטים ותעבורה חשודה).</a:t>
            </a:r>
          </a:p>
          <a:p>
            <a:pPr lvl="0" algn="r" rtl="1"/>
            <a:r>
              <a:rPr lang="he-IL" sz="3600" b="1" dirty="0">
                <a:solidFill>
                  <a:srgbClr val="31333F"/>
                </a:solidFill>
              </a:rPr>
              <a:t>שכבת למידת מכונה (</a:t>
            </a:r>
            <a:r>
              <a:rPr lang="he-IL" sz="3600" b="1" dirty="0" err="1">
                <a:solidFill>
                  <a:srgbClr val="31333F"/>
                </a:solidFill>
              </a:rPr>
              <a:t>Isolation</a:t>
            </a:r>
            <a:r>
              <a:rPr lang="he-IL" sz="3600" b="1" dirty="0">
                <a:solidFill>
                  <a:srgbClr val="31333F"/>
                </a:solidFill>
              </a:rPr>
              <a:t> </a:t>
            </a:r>
            <a:r>
              <a:rPr lang="he-IL" sz="3600" b="1" dirty="0" err="1">
                <a:solidFill>
                  <a:srgbClr val="31333F"/>
                </a:solidFill>
              </a:rPr>
              <a:t>Forest</a:t>
            </a:r>
            <a:r>
              <a:rPr lang="he-IL" sz="3600" b="1" dirty="0">
                <a:solidFill>
                  <a:srgbClr val="31333F"/>
                </a:solidFill>
              </a:rPr>
              <a:t>):</a:t>
            </a:r>
            <a:r>
              <a:rPr lang="he-IL" sz="3600" dirty="0">
                <a:solidFill>
                  <a:srgbClr val="31333F"/>
                </a:solidFill>
              </a:rPr>
              <a:t> מודל למידה בלתי מודרך (</a:t>
            </a:r>
            <a:r>
              <a:rPr lang="he-IL" sz="3600" dirty="0" err="1">
                <a:solidFill>
                  <a:srgbClr val="31333F"/>
                </a:solidFill>
              </a:rPr>
              <a:t>Unsupervised</a:t>
            </a:r>
            <a:r>
              <a:rPr lang="he-IL" sz="3600" dirty="0">
                <a:solidFill>
                  <a:srgbClr val="31333F"/>
                </a:solidFill>
              </a:rPr>
              <a:t> ML) המנתח </a:t>
            </a:r>
            <a:r>
              <a:rPr lang="he-IL" sz="3600" dirty="0" err="1">
                <a:solidFill>
                  <a:srgbClr val="31333F"/>
                </a:solidFill>
              </a:rPr>
              <a:t>וקטורי</a:t>
            </a:r>
            <a:r>
              <a:rPr lang="he-IL" sz="3600" dirty="0">
                <a:solidFill>
                  <a:srgbClr val="31333F"/>
                </a:solidFill>
              </a:rPr>
              <a:t> מאפיינים התנהגותיים ממרחב ה-IP ודפוסי התחברות. המודל מבודד תצפיות קיצוניות וחריגות סטטיסטיות שאינן מתאימות לפרופיל הפעילות הנורמטיבי.</a:t>
            </a:r>
          </a:p>
          <a:p>
            <a:pPr lvl="0" algn="r" rtl="1"/>
            <a:r>
              <a:rPr lang="he-IL" sz="3600" b="1" dirty="0">
                <a:solidFill>
                  <a:srgbClr val="31333F"/>
                </a:solidFill>
              </a:rPr>
              <a:t>אינטגרציית CTI (</a:t>
            </a:r>
            <a:r>
              <a:rPr lang="he-IL" sz="3600" b="1" dirty="0" err="1">
                <a:solidFill>
                  <a:srgbClr val="31333F"/>
                </a:solidFill>
              </a:rPr>
              <a:t>Cyber</a:t>
            </a:r>
            <a:r>
              <a:rPr lang="he-IL" sz="3600" b="1" dirty="0">
                <a:solidFill>
                  <a:srgbClr val="31333F"/>
                </a:solidFill>
              </a:rPr>
              <a:t> </a:t>
            </a:r>
            <a:r>
              <a:rPr lang="he-IL" sz="3600" b="1" dirty="0" err="1">
                <a:solidFill>
                  <a:srgbClr val="31333F"/>
                </a:solidFill>
              </a:rPr>
              <a:t>Threat</a:t>
            </a:r>
            <a:r>
              <a:rPr lang="he-IL" sz="3600" b="1" dirty="0">
                <a:solidFill>
                  <a:srgbClr val="31333F"/>
                </a:solidFill>
              </a:rPr>
              <a:t> </a:t>
            </a:r>
            <a:r>
              <a:rPr lang="he-IL" sz="3600" b="1" dirty="0" err="1">
                <a:solidFill>
                  <a:srgbClr val="31333F"/>
                </a:solidFill>
              </a:rPr>
              <a:t>Intelligence</a:t>
            </a:r>
            <a:r>
              <a:rPr lang="he-IL" sz="3600" b="1" dirty="0">
                <a:solidFill>
                  <a:srgbClr val="31333F"/>
                </a:solidFill>
              </a:rPr>
              <a:t>):</a:t>
            </a:r>
            <a:r>
              <a:rPr lang="he-IL" sz="3600" dirty="0">
                <a:solidFill>
                  <a:srgbClr val="31333F"/>
                </a:solidFill>
              </a:rPr>
              <a:t> פענוח אוטומטי של </a:t>
            </a:r>
            <a:r>
              <a:rPr lang="he-IL" sz="3600" dirty="0" err="1">
                <a:solidFill>
                  <a:srgbClr val="31333F"/>
                </a:solidFill>
              </a:rPr>
              <a:t>אובייקטי</a:t>
            </a:r>
            <a:r>
              <a:rPr lang="he-IL" sz="3600" dirty="0">
                <a:solidFill>
                  <a:srgbClr val="31333F"/>
                </a:solidFill>
              </a:rPr>
              <a:t> STIX ממודל התקיפה של MITRE ATT&amp;CK, המבצע מיפוי טכניקות דינמי לכל ממצא חריג ומעשיר את דוח התחקיר של אנשי ה-SOC.</a:t>
            </a:r>
          </a:p>
          <a:p>
            <a:pPr algn="r" rtl="1"/>
            <a:r>
              <a:rPr lang="he-IL" sz="5400" b="1" dirty="0" err="1">
                <a:solidFill>
                  <a:srgbClr val="31333F"/>
                </a:solidFill>
              </a:rPr>
              <a:t>System</a:t>
            </a:r>
            <a:r>
              <a:rPr lang="he-IL" sz="5400" b="1" dirty="0">
                <a:solidFill>
                  <a:srgbClr val="31333F"/>
                </a:solidFill>
              </a:rPr>
              <a:t> </a:t>
            </a:r>
            <a:r>
              <a:rPr lang="he-IL" sz="5400" b="1" dirty="0" err="1">
                <a:solidFill>
                  <a:srgbClr val="31333F"/>
                </a:solidFill>
              </a:rPr>
              <a:t>Architecture</a:t>
            </a:r>
            <a:r>
              <a:rPr lang="he-IL" sz="5400" b="1" dirty="0">
                <a:solidFill>
                  <a:srgbClr val="31333F"/>
                </a:solidFill>
              </a:rPr>
              <a:t> &amp; </a:t>
            </a:r>
            <a:r>
              <a:rPr lang="he-IL" sz="5400" b="1" dirty="0" err="1">
                <a:solidFill>
                  <a:srgbClr val="31333F"/>
                </a:solidFill>
              </a:rPr>
              <a:t>Implementation</a:t>
            </a:r>
            <a:r>
              <a:rPr lang="he-IL" sz="5400" b="1" dirty="0">
                <a:solidFill>
                  <a:srgbClr val="31333F"/>
                </a:solidFill>
              </a:rPr>
              <a:t> (ארכיטקטורה ומימוש)</a:t>
            </a:r>
          </a:p>
          <a:p>
            <a:pPr algn="r" rtl="1"/>
            <a:r>
              <a:rPr lang="he-IL" sz="3600" dirty="0">
                <a:solidFill>
                  <a:srgbClr val="31333F"/>
                </a:solidFill>
              </a:rPr>
              <a:t>הפרויקט ממומש באופן מודולרי ומוכלל באמצעות </a:t>
            </a:r>
            <a:r>
              <a:rPr lang="he-IL" sz="3600" b="1" dirty="0" err="1">
                <a:solidFill>
                  <a:srgbClr val="31333F"/>
                </a:solidFill>
              </a:rPr>
              <a:t>Docker</a:t>
            </a:r>
            <a:r>
              <a:rPr lang="he-IL" sz="3600" b="1" dirty="0">
                <a:solidFill>
                  <a:srgbClr val="31333F"/>
                </a:solidFill>
              </a:rPr>
              <a:t> </a:t>
            </a:r>
            <a:r>
              <a:rPr lang="he-IL" sz="3600" b="1" dirty="0" err="1">
                <a:solidFill>
                  <a:srgbClr val="31333F"/>
                </a:solidFill>
              </a:rPr>
              <a:t>Compose</a:t>
            </a:r>
            <a:r>
              <a:rPr lang="he-IL" sz="3600" dirty="0">
                <a:solidFill>
                  <a:srgbClr val="31333F"/>
                </a:solidFill>
              </a:rPr>
              <a:t>, ומורכב משלושה רכיבים אינטגרליים:</a:t>
            </a:r>
          </a:p>
          <a:p>
            <a:pPr lvl="0" algn="r" rtl="1"/>
            <a:r>
              <a:rPr lang="he-IL" sz="3600" b="1" dirty="0" err="1">
                <a:solidFill>
                  <a:srgbClr val="31333F"/>
                </a:solidFill>
              </a:rPr>
              <a:t>Simulator</a:t>
            </a:r>
            <a:r>
              <a:rPr lang="he-IL" sz="3600" b="1" dirty="0">
                <a:solidFill>
                  <a:srgbClr val="31333F"/>
                </a:solidFill>
              </a:rPr>
              <a:t>:</a:t>
            </a:r>
            <a:r>
              <a:rPr lang="he-IL" sz="3600" dirty="0">
                <a:solidFill>
                  <a:srgbClr val="31333F"/>
                </a:solidFill>
              </a:rPr>
              <a:t> רכיב סימולציה המייצר באופן מחזורי תעבורת לוגים, אירועי רשת ותרחישי אמת מגוונים לבדיקת חוסן המערכת תחת עומס.</a:t>
            </a:r>
          </a:p>
          <a:p>
            <a:pPr lvl="0" algn="r" rtl="1"/>
            <a:r>
              <a:rPr lang="he-IL" sz="3600" b="1" dirty="0" err="1">
                <a:solidFill>
                  <a:srgbClr val="31333F"/>
                </a:solidFill>
              </a:rPr>
              <a:t>Detector</a:t>
            </a:r>
            <a:r>
              <a:rPr lang="he-IL" sz="3600" b="1" dirty="0">
                <a:solidFill>
                  <a:srgbClr val="31333F"/>
                </a:solidFill>
              </a:rPr>
              <a:t> </a:t>
            </a:r>
            <a:r>
              <a:rPr lang="he-IL" sz="3600" b="1" dirty="0" err="1">
                <a:solidFill>
                  <a:srgbClr val="31333F"/>
                </a:solidFill>
              </a:rPr>
              <a:t>Engine</a:t>
            </a:r>
            <a:r>
              <a:rPr lang="he-IL" sz="3600" b="1" dirty="0">
                <a:solidFill>
                  <a:srgbClr val="31333F"/>
                </a:solidFill>
              </a:rPr>
              <a:t>:</a:t>
            </a:r>
            <a:r>
              <a:rPr lang="he-IL" sz="3600" dirty="0">
                <a:solidFill>
                  <a:srgbClr val="31333F"/>
                </a:solidFill>
              </a:rPr>
              <a:t> מנוע הניתוח המריץ במקביל את בדיקות החתימות ומודל ה-</a:t>
            </a:r>
            <a:r>
              <a:rPr lang="he-IL" sz="3600" dirty="0" err="1">
                <a:solidFill>
                  <a:srgbClr val="31333F"/>
                </a:solidFill>
              </a:rPr>
              <a:t>Isolation</a:t>
            </a:r>
            <a:r>
              <a:rPr lang="he-IL" sz="3600" dirty="0">
                <a:solidFill>
                  <a:srgbClr val="31333F"/>
                </a:solidFill>
              </a:rPr>
              <a:t> </a:t>
            </a:r>
            <a:r>
              <a:rPr lang="he-IL" sz="3600" dirty="0" err="1">
                <a:solidFill>
                  <a:srgbClr val="31333F"/>
                </a:solidFill>
              </a:rPr>
              <a:t>Forest</a:t>
            </a:r>
            <a:r>
              <a:rPr lang="he-IL" sz="3600" dirty="0">
                <a:solidFill>
                  <a:srgbClr val="31333F"/>
                </a:solidFill>
              </a:rPr>
              <a:t>, מבצע את השאילתות מול קבצי ה-STIX, ומחשב בזמן אמת את מדדי ההערכה האקדמיים.</a:t>
            </a:r>
          </a:p>
          <a:p>
            <a:pPr lvl="0" algn="r" rtl="1"/>
            <a:r>
              <a:rPr lang="he-IL" sz="3600" b="1" dirty="0" err="1">
                <a:solidFill>
                  <a:srgbClr val="31333F"/>
                </a:solidFill>
              </a:rPr>
              <a:t>Dashboard</a:t>
            </a:r>
            <a:r>
              <a:rPr lang="he-IL" sz="3600" b="1" dirty="0">
                <a:solidFill>
                  <a:srgbClr val="31333F"/>
                </a:solidFill>
              </a:rPr>
              <a:t>:</a:t>
            </a:r>
            <a:r>
              <a:rPr lang="he-IL" sz="3600" dirty="0">
                <a:solidFill>
                  <a:srgbClr val="31333F"/>
                </a:solidFill>
              </a:rPr>
              <a:t> ממשק אינטראקטיבי מתקדם מבוסס </a:t>
            </a:r>
            <a:r>
              <a:rPr lang="he-IL" sz="3600" dirty="0" err="1">
                <a:solidFill>
                  <a:srgbClr val="31333F"/>
                </a:solidFill>
              </a:rPr>
              <a:t>Streamlit</a:t>
            </a:r>
            <a:r>
              <a:rPr lang="he-IL" sz="3600" dirty="0">
                <a:solidFill>
                  <a:srgbClr val="31333F"/>
                </a:solidFill>
              </a:rPr>
              <a:t> המציג את תמונת המצב התפעולית (</a:t>
            </a:r>
            <a:r>
              <a:rPr lang="he-IL" sz="3600" dirty="0" err="1">
                <a:solidFill>
                  <a:srgbClr val="31333F"/>
                </a:solidFill>
              </a:rPr>
              <a:t>Operational</a:t>
            </a:r>
            <a:r>
              <a:rPr lang="he-IL" sz="3600" dirty="0">
                <a:solidFill>
                  <a:srgbClr val="31333F"/>
                </a:solidFill>
              </a:rPr>
              <a:t> </a:t>
            </a:r>
            <a:r>
              <a:rPr lang="he-IL" sz="3600" dirty="0" err="1">
                <a:solidFill>
                  <a:srgbClr val="31333F"/>
                </a:solidFill>
              </a:rPr>
              <a:t>Findings</a:t>
            </a:r>
            <a:r>
              <a:rPr lang="he-IL" sz="3600" dirty="0">
                <a:solidFill>
                  <a:srgbClr val="31333F"/>
                </a:solidFill>
              </a:rPr>
              <a:t>), פילוח חומרת האירועים (</a:t>
            </a:r>
            <a:r>
              <a:rPr lang="he-IL" sz="3600" dirty="0" err="1">
                <a:solidFill>
                  <a:srgbClr val="31333F"/>
                </a:solidFill>
              </a:rPr>
              <a:t>Severity</a:t>
            </a:r>
            <a:r>
              <a:rPr lang="he-IL" sz="3600" dirty="0">
                <a:solidFill>
                  <a:srgbClr val="31333F"/>
                </a:solidFill>
              </a:rPr>
              <a:t> </a:t>
            </a:r>
            <a:r>
              <a:rPr lang="he-IL" sz="3600" dirty="0" err="1">
                <a:solidFill>
                  <a:srgbClr val="31333F"/>
                </a:solidFill>
              </a:rPr>
              <a:t>Breakdown</a:t>
            </a:r>
            <a:r>
              <a:rPr lang="he-IL" sz="3600" dirty="0">
                <a:solidFill>
                  <a:srgbClr val="31333F"/>
                </a:solidFill>
              </a:rPr>
              <a:t>) וטבלת ממצאים מפורטת.</a:t>
            </a:r>
          </a:p>
          <a:p>
            <a:pPr algn="r" rtl="1"/>
            <a:r>
              <a:rPr lang="he-IL" sz="5400" b="1" dirty="0" err="1">
                <a:solidFill>
                  <a:srgbClr val="31333F"/>
                </a:solidFill>
              </a:rPr>
              <a:t>Performance</a:t>
            </a:r>
            <a:r>
              <a:rPr lang="he-IL" sz="5400" b="1" dirty="0">
                <a:solidFill>
                  <a:srgbClr val="31333F"/>
                </a:solidFill>
              </a:rPr>
              <a:t> &amp; </a:t>
            </a:r>
            <a:r>
              <a:rPr lang="he-IL" sz="5400" b="1" dirty="0" err="1">
                <a:solidFill>
                  <a:srgbClr val="31333F"/>
                </a:solidFill>
              </a:rPr>
              <a:t>Evaluation</a:t>
            </a:r>
            <a:r>
              <a:rPr lang="he-IL" sz="5400" b="1" dirty="0">
                <a:solidFill>
                  <a:srgbClr val="31333F"/>
                </a:solidFill>
              </a:rPr>
              <a:t> </a:t>
            </a:r>
            <a:r>
              <a:rPr lang="he-IL" sz="5400" b="1" dirty="0" err="1">
                <a:solidFill>
                  <a:srgbClr val="31333F"/>
                </a:solidFill>
              </a:rPr>
              <a:t>Metrics</a:t>
            </a:r>
            <a:r>
              <a:rPr lang="he-IL" sz="5400" b="1" dirty="0">
                <a:solidFill>
                  <a:srgbClr val="31333F"/>
                </a:solidFill>
              </a:rPr>
              <a:t> (מדדי ביצוע והערכה)</a:t>
            </a:r>
          </a:p>
          <a:p>
            <a:pPr algn="r" rtl="1"/>
            <a:r>
              <a:rPr lang="he-IL" sz="3600" dirty="0">
                <a:solidFill>
                  <a:srgbClr val="31333F"/>
                </a:solidFill>
              </a:rPr>
              <a:t>המערכת נבחנה תחת תרחישי אמת מגוונים וייצרה דוח תפעולי הכולל מעל 60 ממצאים סוּגִים. להערכת האפקטיביות של מנוע הגילוי ההיברידי, חושבו מדדים כמותיים סטנדרטיים:</a:t>
            </a:r>
          </a:p>
          <a:p>
            <a:pPr marL="571500" lvl="0" indent="-571500" algn="r" rtl="1">
              <a:buFont typeface="Arial" panose="020B0604020202020204" pitchFamily="34" charset="0"/>
              <a:buChar char="•"/>
            </a:pPr>
            <a:r>
              <a:rPr lang="en-US" sz="3600" b="1" dirty="0">
                <a:solidFill>
                  <a:srgbClr val="31333F"/>
                </a:solidFill>
              </a:rPr>
              <a:t>Precision (~0.87)</a:t>
            </a:r>
            <a:r>
              <a:rPr lang="he-IL" sz="3600" b="1" dirty="0">
                <a:solidFill>
                  <a:srgbClr val="31333F"/>
                </a:solidFill>
              </a:rPr>
              <a:t>-</a:t>
            </a:r>
            <a:r>
              <a:rPr lang="he-IL" sz="3600" dirty="0">
                <a:solidFill>
                  <a:srgbClr val="31333F"/>
                </a:solidFill>
              </a:rPr>
              <a:t>מדד דיוק גבוה המעיד על כך שרוב מוחלט של ההתראות שהמערכת הפיקה אכן מייצגות איומים אמיתיים, ובכך מצמצם את עומס העבודה על האנליסטים.</a:t>
            </a:r>
          </a:p>
          <a:p>
            <a:pPr marL="571500" lvl="0" indent="-571500" algn="r" rtl="1">
              <a:buFont typeface="Arial" panose="020B0604020202020204" pitchFamily="34" charset="0"/>
              <a:buChar char="•"/>
            </a:pPr>
            <a:r>
              <a:rPr lang="en-US" sz="3600" b="1" dirty="0">
                <a:solidFill>
                  <a:srgbClr val="31333F"/>
                </a:solidFill>
              </a:rPr>
              <a:t>-Recall (~0.96)</a:t>
            </a:r>
            <a:r>
              <a:rPr lang="he-IL" sz="3600" dirty="0">
                <a:solidFill>
                  <a:srgbClr val="31333F"/>
                </a:solidFill>
              </a:rPr>
              <a:t>רמת כיסוי גבוהה המבטאת את יכולת המערכת לאתר את מרבית תרחישי התקיפה המדומות מבלי "לפספס" אירועים קריטיים.</a:t>
            </a:r>
          </a:p>
          <a:p>
            <a:pPr marL="571500" lvl="0" indent="-571500" algn="r" rtl="1">
              <a:buFont typeface="Arial" panose="020B0604020202020204" pitchFamily="34" charset="0"/>
              <a:buChar char="•"/>
            </a:pPr>
            <a:r>
              <a:rPr lang="en-US" sz="3600" b="1" dirty="0">
                <a:solidFill>
                  <a:srgbClr val="31333F"/>
                </a:solidFill>
              </a:rPr>
              <a:t>- F1-Score (~0.91)</a:t>
            </a:r>
            <a:r>
              <a:rPr lang="he-IL" sz="3600" dirty="0">
                <a:solidFill>
                  <a:srgbClr val="31333F"/>
                </a:solidFill>
              </a:rPr>
              <a:t>מדד משולב המוכיח איזון אופטימלי בין רגישות המערכת לדיוק הזיהוי.</a:t>
            </a:r>
          </a:p>
          <a:p>
            <a:pPr marL="571500" lvl="0" indent="-571500" algn="r" rtl="1">
              <a:buFont typeface="Arial" panose="020B0604020202020204" pitchFamily="34" charset="0"/>
              <a:buChar char="•"/>
            </a:pPr>
            <a:r>
              <a:rPr lang="en-US" sz="3600" b="1" dirty="0">
                <a:solidFill>
                  <a:srgbClr val="31333F"/>
                </a:solidFill>
              </a:rPr>
              <a:t>- FPR (False Positive Rate ~0.15)</a:t>
            </a:r>
            <a:r>
              <a:rPr lang="he-IL" sz="3600" dirty="0">
                <a:solidFill>
                  <a:srgbClr val="31333F"/>
                </a:solidFill>
              </a:rPr>
              <a:t>שיעור התראות שווא נמוך המאפשר סביבת עבודה אמינה ותפעול שוטף יעיל.</a:t>
            </a:r>
          </a:p>
          <a:p>
            <a:pPr algn="r" rtl="1"/>
            <a:r>
              <a:rPr lang="he-IL" sz="5400" b="1" dirty="0">
                <a:solidFill>
                  <a:srgbClr val="31333F"/>
                </a:solidFill>
              </a:rPr>
              <a:t> </a:t>
            </a:r>
            <a:r>
              <a:rPr lang="he-IL" sz="5400" b="1" dirty="0" err="1">
                <a:solidFill>
                  <a:srgbClr val="31333F"/>
                </a:solidFill>
              </a:rPr>
              <a:t>Conclusions</a:t>
            </a:r>
            <a:r>
              <a:rPr lang="he-IL" sz="5400" b="1" dirty="0">
                <a:solidFill>
                  <a:srgbClr val="31333F"/>
                </a:solidFill>
              </a:rPr>
              <a:t> (מסקנות)</a:t>
            </a:r>
          </a:p>
          <a:p>
            <a:pPr algn="r" rtl="1"/>
            <a:r>
              <a:rPr lang="he-IL" sz="3600" dirty="0">
                <a:solidFill>
                  <a:srgbClr val="31333F"/>
                </a:solidFill>
              </a:rPr>
              <a:t>התוצאות האמפיריות מאמתות כי השילוב ההיברידי בין חתימות סטטיות לבין מודל אנומליות מבוסס </a:t>
            </a:r>
            <a:r>
              <a:rPr lang="he-IL" sz="3600" dirty="0" err="1">
                <a:solidFill>
                  <a:srgbClr val="31333F"/>
                </a:solidFill>
              </a:rPr>
              <a:t>Isolation</a:t>
            </a:r>
            <a:r>
              <a:rPr lang="he-IL" sz="3600" dirty="0">
                <a:solidFill>
                  <a:srgbClr val="31333F"/>
                </a:solidFill>
              </a:rPr>
              <a:t> </a:t>
            </a:r>
            <a:r>
              <a:rPr lang="he-IL" sz="3600" dirty="0" err="1">
                <a:solidFill>
                  <a:srgbClr val="31333F"/>
                </a:solidFill>
              </a:rPr>
              <a:t>Forest</a:t>
            </a:r>
            <a:r>
              <a:rPr lang="he-IL" sz="3600" dirty="0">
                <a:solidFill>
                  <a:srgbClr val="31333F"/>
                </a:solidFill>
              </a:rPr>
              <a:t> מצליח לשמור על אמינות גבוהה תוך שמירה על רגישות לגילוי אנומליות שלא זוהו על ידי כללים סטטיים בלבד. יעדי הפרויקט הושגו במלואם, והוכחה היתכנות טכנולוגית לשילוב אוטומטי של מודיעין איומים מובנה (STIX/MITRE) במערכות SOC ארגוניות.</a:t>
            </a:r>
          </a:p>
          <a:p>
            <a:pPr algn="r" rtl="1"/>
            <a:r>
              <a:rPr lang="he-IL" sz="5400" b="1" dirty="0">
                <a:solidFill>
                  <a:srgbClr val="31333F"/>
                </a:solidFill>
              </a:rPr>
              <a:t> </a:t>
            </a:r>
            <a:r>
              <a:rPr lang="he-IL" sz="5400" b="1" dirty="0" err="1">
                <a:solidFill>
                  <a:srgbClr val="31333F"/>
                </a:solidFill>
              </a:rPr>
              <a:t>Discussions</a:t>
            </a:r>
            <a:r>
              <a:rPr lang="he-IL" sz="5400" b="1" dirty="0">
                <a:solidFill>
                  <a:srgbClr val="31333F"/>
                </a:solidFill>
              </a:rPr>
              <a:t> &amp; </a:t>
            </a:r>
            <a:r>
              <a:rPr lang="he-IL" sz="5400" b="1" dirty="0" err="1">
                <a:solidFill>
                  <a:srgbClr val="31333F"/>
                </a:solidFill>
              </a:rPr>
              <a:t>Future</a:t>
            </a:r>
            <a:r>
              <a:rPr lang="he-IL" sz="5400" b="1" dirty="0">
                <a:solidFill>
                  <a:srgbClr val="31333F"/>
                </a:solidFill>
              </a:rPr>
              <a:t> </a:t>
            </a:r>
            <a:r>
              <a:rPr lang="he-IL" sz="5400" b="1" dirty="0" err="1">
                <a:solidFill>
                  <a:srgbClr val="31333F"/>
                </a:solidFill>
              </a:rPr>
              <a:t>Work</a:t>
            </a:r>
            <a:r>
              <a:rPr lang="he-IL" sz="5400" b="1" dirty="0">
                <a:solidFill>
                  <a:srgbClr val="31333F"/>
                </a:solidFill>
              </a:rPr>
              <a:t> (דיונים וחזון עתידי)</a:t>
            </a:r>
          </a:p>
          <a:p>
            <a:pPr lvl="0" algn="r" rtl="1"/>
            <a:r>
              <a:rPr lang="he-IL" sz="3600" b="1" dirty="0">
                <a:solidFill>
                  <a:srgbClr val="31333F"/>
                </a:solidFill>
              </a:rPr>
              <a:t>הרחבה אלגוריתמית:</a:t>
            </a:r>
            <a:r>
              <a:rPr lang="he-IL" sz="3600" dirty="0">
                <a:solidFill>
                  <a:srgbClr val="31333F"/>
                </a:solidFill>
              </a:rPr>
              <a:t> שילוב מודלי </a:t>
            </a:r>
            <a:r>
              <a:rPr lang="he-IL" sz="3600" dirty="0" err="1">
                <a:solidFill>
                  <a:srgbClr val="31333F"/>
                </a:solidFill>
              </a:rPr>
              <a:t>Deep</a:t>
            </a:r>
            <a:r>
              <a:rPr lang="he-IL" sz="3600" dirty="0">
                <a:solidFill>
                  <a:srgbClr val="31333F"/>
                </a:solidFill>
              </a:rPr>
              <a:t> </a:t>
            </a:r>
            <a:r>
              <a:rPr lang="he-IL" sz="3600" dirty="0" err="1">
                <a:solidFill>
                  <a:srgbClr val="31333F"/>
                </a:solidFill>
              </a:rPr>
              <a:t>Learning</a:t>
            </a:r>
            <a:r>
              <a:rPr lang="he-IL" sz="3600" dirty="0">
                <a:solidFill>
                  <a:srgbClr val="31333F"/>
                </a:solidFill>
              </a:rPr>
              <a:t> מתקדמים יותר (כגון LSTM או </a:t>
            </a:r>
            <a:r>
              <a:rPr lang="he-IL" sz="3600" dirty="0" err="1">
                <a:solidFill>
                  <a:srgbClr val="31333F"/>
                </a:solidFill>
              </a:rPr>
              <a:t>Autoencoders</a:t>
            </a:r>
            <a:r>
              <a:rPr lang="he-IL" sz="3600" dirty="0">
                <a:solidFill>
                  <a:srgbClr val="31333F"/>
                </a:solidFill>
              </a:rPr>
              <a:t>) לניתוח רצפי לוגים טמפורליים (</a:t>
            </a:r>
            <a:r>
              <a:rPr lang="he-IL" sz="3600" dirty="0" err="1">
                <a:solidFill>
                  <a:srgbClr val="31333F"/>
                </a:solidFill>
              </a:rPr>
              <a:t>Time-Series</a:t>
            </a:r>
            <a:r>
              <a:rPr lang="he-IL" sz="3600" dirty="0">
                <a:solidFill>
                  <a:srgbClr val="31333F"/>
                </a:solidFill>
              </a:rPr>
              <a:t> </a:t>
            </a:r>
            <a:r>
              <a:rPr lang="he-IL" sz="3600" dirty="0" err="1">
                <a:solidFill>
                  <a:srgbClr val="31333F"/>
                </a:solidFill>
              </a:rPr>
              <a:t>Anomaly</a:t>
            </a:r>
            <a:r>
              <a:rPr lang="he-IL" sz="3600" dirty="0">
                <a:solidFill>
                  <a:srgbClr val="31333F"/>
                </a:solidFill>
              </a:rPr>
              <a:t> </a:t>
            </a:r>
            <a:r>
              <a:rPr lang="he-IL" sz="3600" dirty="0" err="1">
                <a:solidFill>
                  <a:srgbClr val="31333F"/>
                </a:solidFill>
              </a:rPr>
              <a:t>Detection</a:t>
            </a:r>
            <a:r>
              <a:rPr lang="he-IL" sz="3600" dirty="0">
                <a:solidFill>
                  <a:srgbClr val="31333F"/>
                </a:solidFill>
              </a:rPr>
              <a:t>).</a:t>
            </a:r>
          </a:p>
          <a:p>
            <a:pPr lvl="0" algn="r" rtl="1"/>
            <a:r>
              <a:rPr lang="he-IL" sz="3600" b="1" dirty="0" err="1">
                <a:solidFill>
                  <a:srgbClr val="31333F"/>
                </a:solidFill>
              </a:rPr>
              <a:t>אוטומציית</a:t>
            </a:r>
            <a:r>
              <a:rPr lang="he-IL" sz="3600" b="1" dirty="0">
                <a:solidFill>
                  <a:srgbClr val="31333F"/>
                </a:solidFill>
              </a:rPr>
              <a:t> תגובה:</a:t>
            </a:r>
            <a:r>
              <a:rPr lang="he-IL" sz="3600" dirty="0">
                <a:solidFill>
                  <a:srgbClr val="31333F"/>
                </a:solidFill>
              </a:rPr>
              <a:t> הוספת ממשקי </a:t>
            </a:r>
            <a:r>
              <a:rPr lang="he-IL" sz="3600" dirty="0" err="1">
                <a:solidFill>
                  <a:srgbClr val="31333F"/>
                </a:solidFill>
              </a:rPr>
              <a:t>Webhooks</a:t>
            </a:r>
            <a:r>
              <a:rPr lang="he-IL" sz="3600" dirty="0">
                <a:solidFill>
                  <a:srgbClr val="31333F"/>
                </a:solidFill>
              </a:rPr>
              <a:t> לאינטגרציה עם מערכות הודעות חיצוניות (כגון </a:t>
            </a:r>
            <a:r>
              <a:rPr lang="he-IL" sz="3600" dirty="0" err="1">
                <a:solidFill>
                  <a:srgbClr val="31333F"/>
                </a:solidFill>
              </a:rPr>
              <a:t>Slack</a:t>
            </a:r>
            <a:r>
              <a:rPr lang="he-IL" sz="3600" dirty="0">
                <a:solidFill>
                  <a:srgbClr val="31333F"/>
                </a:solidFill>
              </a:rPr>
              <a:t> או </a:t>
            </a:r>
            <a:r>
              <a:rPr lang="he-IL" sz="3600" dirty="0" err="1">
                <a:solidFill>
                  <a:srgbClr val="31333F"/>
                </a:solidFill>
              </a:rPr>
              <a:t>Microsoft</a:t>
            </a:r>
            <a:r>
              <a:rPr lang="he-IL" sz="3600" dirty="0">
                <a:solidFill>
                  <a:srgbClr val="31333F"/>
                </a:solidFill>
              </a:rPr>
              <a:t> </a:t>
            </a:r>
            <a:r>
              <a:rPr lang="he-IL" sz="3600" dirty="0" err="1">
                <a:solidFill>
                  <a:srgbClr val="31333F"/>
                </a:solidFill>
              </a:rPr>
              <a:t>Teams</a:t>
            </a:r>
            <a:r>
              <a:rPr lang="he-IL" sz="3600" dirty="0">
                <a:solidFill>
                  <a:srgbClr val="31333F"/>
                </a:solidFill>
              </a:rPr>
              <a:t>) להתראות מיידיות.</a:t>
            </a:r>
          </a:p>
          <a:p>
            <a:pPr lvl="0" algn="r" rtl="1"/>
            <a:r>
              <a:rPr lang="he-IL" sz="3600" b="1" dirty="0">
                <a:solidFill>
                  <a:srgbClr val="31333F"/>
                </a:solidFill>
              </a:rPr>
              <a:t>ניהול CTI דינמי:</a:t>
            </a:r>
            <a:r>
              <a:rPr lang="he-IL" sz="3600" dirty="0">
                <a:solidFill>
                  <a:srgbClr val="31333F"/>
                </a:solidFill>
              </a:rPr>
              <a:t> חיבור ישיר למאגרי STIX מקוונים לעדכון שוטף של טקטיקות ותקיפות חדשות בזמן אמת.</a:t>
            </a:r>
          </a:p>
          <a:p>
            <a:pPr algn="ctr"/>
            <a:endParaRPr lang="he-IL" dirty="0">
              <a:solidFill>
                <a:srgbClr val="31333F"/>
              </a:solidFill>
            </a:endParaRPr>
          </a:p>
        </p:txBody>
      </p:sp>
      <p:pic>
        <p:nvPicPr>
          <p:cNvPr id="19" name="תמונה 18">
            <a:extLst>
              <a:ext uri="{FF2B5EF4-FFF2-40B4-BE49-F238E27FC236}">
                <a16:creationId xmlns:a16="http://schemas.microsoft.com/office/drawing/2014/main" id="{2657CA96-E57B-B6C0-56E2-D6CAFFC8358D}"/>
              </a:ext>
            </a:extLst>
          </p:cNvPr>
          <p:cNvPicPr>
            <a:picLocks noChangeAspect="1"/>
          </p:cNvPicPr>
          <p:nvPr/>
        </p:nvPicPr>
        <p:blipFill>
          <a:blip r:embed="rId3"/>
          <a:stretch>
            <a:fillRect/>
          </a:stretch>
        </p:blipFill>
        <p:spPr>
          <a:xfrm>
            <a:off x="3179245" y="33467946"/>
            <a:ext cx="1662940" cy="1662940"/>
          </a:xfrm>
          <a:prstGeom prst="rect">
            <a:avLst/>
          </a:prstGeom>
        </p:spPr>
      </p:pic>
      <p:sp>
        <p:nvSpPr>
          <p:cNvPr id="31" name="תיבת טקסט 30">
            <a:extLst>
              <a:ext uri="{FF2B5EF4-FFF2-40B4-BE49-F238E27FC236}">
                <a16:creationId xmlns:a16="http://schemas.microsoft.com/office/drawing/2014/main" id="{FC8125D1-8B78-E878-B570-C8A9840D114F}"/>
              </a:ext>
            </a:extLst>
          </p:cNvPr>
          <p:cNvSpPr txBox="1"/>
          <p:nvPr/>
        </p:nvSpPr>
        <p:spPr>
          <a:xfrm>
            <a:off x="5175504" y="23170896"/>
            <a:ext cx="2871216" cy="1591056"/>
          </a:xfrm>
          <a:prstGeom prst="rect">
            <a:avLst/>
          </a:prstGeom>
          <a:noFill/>
        </p:spPr>
        <p:txBody>
          <a:bodyPr wrap="square" rtlCol="1">
            <a:spAutoFit/>
          </a:bodyPr>
          <a:lstStyle/>
          <a:p>
            <a:endParaRPr lang="he-IL" dirty="0"/>
          </a:p>
        </p:txBody>
      </p:sp>
    </p:spTree>
    <p:extLst>
      <p:ext uri="{BB962C8B-B14F-4D97-AF65-F5344CB8AC3E}">
        <p14:creationId xmlns:p14="http://schemas.microsoft.com/office/powerpoint/2010/main" val="136045819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F0145DF-3859-4641-BBAA-9DE5D969B1C9}">
  <we:reference id="WA200005566" version="3.0.0.2" store="Omex"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4249</TotalTime>
  <Words>639</Words>
  <Application>Microsoft Office PowerPoint</Application>
  <PresentationFormat>מותאם אישית</PresentationFormat>
  <Paragraphs>29</Paragraphs>
  <Slides>1</Slides>
  <Notes>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1</vt:i4>
      </vt:variant>
    </vt:vector>
  </HeadingPairs>
  <TitlesOfParts>
    <vt:vector size="5" baseType="lpstr">
      <vt:lpstr>Arial</vt:lpstr>
      <vt:lpstr>Calibri</vt:lpstr>
      <vt:lpstr>Calibri Light</vt:lpstr>
      <vt:lpstr>Office Theme</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Dmitry Patashov</dc:creator>
  <cp:lastModifiedBy>Shachar Laria</cp:lastModifiedBy>
  <cp:revision>53</cp:revision>
  <dcterms:created xsi:type="dcterms:W3CDTF">2019-01-27T10:54:29Z</dcterms:created>
  <dcterms:modified xsi:type="dcterms:W3CDTF">2026-09-13T19:38:46Z</dcterms:modified>
</cp:coreProperties>
</file>